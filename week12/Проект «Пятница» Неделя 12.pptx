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Inter" panose="020B0604020202020204" charset="0"/>
      <p:regular r:id="rId19"/>
      <p:bold r:id="rId20"/>
      <p:italic r:id="rId21"/>
      <p:boldItalic r:id="rId22"/>
    </p:embeddedFont>
    <p:embeddedFont>
      <p:font typeface="Inter SemiBold" panose="020B0604020202020204" charset="0"/>
      <p:regular r:id="rId23"/>
      <p:bold r:id="rId24"/>
      <p:italic r:id="rId25"/>
      <p:boldItalic r:id="rId26"/>
    </p:embeddedFont>
    <p:embeddedFont>
      <p:font typeface="JetBrains Mono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B981"/>
    <a:srgbClr val="131D35"/>
    <a:srgbClr val="0F172A"/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C7A545-5E8F-4A1A-A818-362B46C552DA}">
  <a:tblStyle styleId="{85C7A545-5E8F-4A1A-A818-362B46C552D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3976538"/>
            <a:ext cx="11029950" cy="125908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81025" y="1793676"/>
            <a:ext cx="110299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НЕДЕЛЯ 12 | СТРАТЕГИЯ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5276" y="2128837"/>
            <a:ext cx="11581447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Проект «Пятница»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2989808"/>
            <a:ext cx="11029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Голосовой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ассистент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управления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парком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ПК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581025" y="4462313"/>
            <a:ext cx="11029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Финансовый план и стратегия роста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81025" y="4900463"/>
            <a:ext cx="110299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Команда</a:t>
            </a:r>
            <a:r>
              <a:rPr lang="en-US" sz="135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№8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4" y="895335"/>
            <a:ext cx="5514975" cy="286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8677" y="896870"/>
            <a:ext cx="5100637" cy="286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4" y="3821186"/>
            <a:ext cx="5514974" cy="2977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70072" y="3821186"/>
            <a:ext cx="5100637" cy="297715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446234" y="1280756"/>
            <a:ext cx="324476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Ядро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210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роста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(</a:t>
            </a:r>
            <a:r>
              <a:rPr lang="en-US" sz="210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Драйвер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)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852161" y="1962139"/>
            <a:ext cx="4805362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Канальный</a:t>
            </a:r>
            <a:r>
              <a:rPr lang="en-US" sz="135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рост</a:t>
            </a:r>
            <a:r>
              <a:rPr lang="en-US" sz="135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Фокус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«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теплой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»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аудитории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конкурентов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(TG-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каналы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блогеров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852161" y="2757743"/>
            <a:ext cx="4805362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Наш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Gemini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мощнее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работа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через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NAT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быстрее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а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цена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ниже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текущих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аналогов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7241622" y="1223606"/>
            <a:ext cx="50456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Цели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210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на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3 </a:t>
            </a:r>
            <a:r>
              <a:rPr lang="en-US" sz="210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месяца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6565347" y="1894911"/>
            <a:ext cx="4805362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150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платящих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пользователей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6565347" y="2361589"/>
            <a:ext cx="4805362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MRR: ~150 000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руб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6565347" y="2870923"/>
            <a:ext cx="4805362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Конверсия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из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триала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10%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1552575" y="4116060"/>
            <a:ext cx="50456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Цели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210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на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12 </a:t>
            </a:r>
            <a:r>
              <a:rPr lang="en-US" sz="210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месяцев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876300" y="4720962"/>
            <a:ext cx="4805362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1 000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активных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подписчиков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882954" y="5304568"/>
            <a:ext cx="4805362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MRR: ~1 000 000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руб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882954" y="5824232"/>
            <a:ext cx="4805362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Retention 2-го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месяца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&gt; 70%</a:t>
            </a:r>
            <a:endParaRPr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7110229" y="4154561"/>
            <a:ext cx="476952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Продуктовая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210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петля</a:t>
            </a: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6598205" y="4848959"/>
            <a:ext cx="4282193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Виральность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среди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сисадминов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через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сарафанное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радио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 и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обмен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кастомными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скриптами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управления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122871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65347" y="122360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8675" y="4082928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65347" y="4154561"/>
            <a:ext cx="360151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581025" y="350506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ЦЕЛИ И ЯДРО РОСТА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066329"/>
            <a:ext cx="53244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245173"/>
            <a:ext cx="5324475" cy="119598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81025" y="2333029"/>
            <a:ext cx="559069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Go-To-Market (GTM)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81025" y="2828329"/>
            <a:ext cx="5324475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Пляжный сегмент: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Подписчики IT-каналов, уже использующие платных ассистентов.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81025" y="3479601"/>
            <a:ext cx="5324475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Оффер: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«Пятница: быстрее, умнее и дешевле. Месяц в подарок при переходе».</a:t>
            </a:r>
            <a:endParaRPr/>
          </a:p>
        </p:txBody>
      </p:sp>
      <p:pic>
        <p:nvPicPr>
          <p:cNvPr id="128" name="Google Shape;12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075854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809625" y="4435673"/>
            <a:ext cx="49053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SaaS Тарифы: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09625" y="4723209"/>
            <a:ext cx="49053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PRO: 990 руб./мес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09625" y="5010745"/>
            <a:ext cx="49053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B2B: 4 990 руб./мес (до 10 ПК)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81025" y="865584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СТРАТЕГИЯ ВЫХОДА НА РЫНОК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" name="Google Shape;138;p16"/>
          <p:cNvGraphicFramePr/>
          <p:nvPr>
            <p:extLst>
              <p:ext uri="{D42A27DB-BD31-4B8C-83A1-F6EECF244321}">
                <p14:modId xmlns:p14="http://schemas.microsoft.com/office/powerpoint/2010/main" val="633508097"/>
              </p:ext>
            </p:extLst>
          </p:nvPr>
        </p:nvGraphicFramePr>
        <p:xfrm>
          <a:off x="581025" y="3156942"/>
          <a:ext cx="11029950" cy="1724000"/>
        </p:xfrm>
        <a:graphic>
          <a:graphicData uri="http://schemas.openxmlformats.org/drawingml/2006/table">
            <a:tbl>
              <a:tblPr firstRow="1" bandRow="1">
                <a:noFill/>
                <a:tableStyleId>{85C7A545-5E8F-4A1A-A818-362B46C552DA}</a:tableStyleId>
              </a:tblPr>
              <a:tblGrid>
                <a:gridCol w="222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 err="1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Гипотеза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 err="1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Что</a:t>
                      </a:r>
                      <a:r>
                        <a:rPr lang="en-US" sz="1600" b="1" i="0" u="none" strike="noStrike" cap="none" dirty="0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600" b="1" i="0" u="none" strike="noStrike" cap="none" dirty="0" err="1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делаем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Метрика успеха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Риски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Переманивание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Посевы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в 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чатах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конкурентов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с 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промокодом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СAC &lt; 500 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руб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Бан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от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админов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Ценообразование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A/B 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тест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лендинга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: 990 vs 1490 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руб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Выше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LTV/CAC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Малая выборка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Активация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Онбординг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настройки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за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3 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шага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TTV &lt; 5 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минут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Сложный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UI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9" name="Google Shape;139;p16"/>
          <p:cNvSpPr/>
          <p:nvPr/>
        </p:nvSpPr>
        <p:spPr>
          <a:xfrm>
            <a:off x="581025" y="3566517"/>
            <a:ext cx="2224087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2805112" y="3566517"/>
            <a:ext cx="4851499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656611" y="3566517"/>
            <a:ext cx="202897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9685585" y="3566517"/>
            <a:ext cx="1925389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81025" y="4009429"/>
            <a:ext cx="22240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2805112" y="4009429"/>
            <a:ext cx="48514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7656611" y="4009429"/>
            <a:ext cx="20289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9685585" y="4009429"/>
            <a:ext cx="19253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581025" y="4438054"/>
            <a:ext cx="22240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2805112" y="4438054"/>
            <a:ext cx="48514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7656611" y="4438054"/>
            <a:ext cx="20289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9685585" y="4438054"/>
            <a:ext cx="19253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81025" y="4866679"/>
            <a:ext cx="22240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2805112" y="4866679"/>
            <a:ext cx="48514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7656611" y="4866679"/>
            <a:ext cx="20289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9685585" y="4866679"/>
            <a:ext cx="19253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581025" y="865584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ЭКСПЕРИМЕНТЫ (0–3 МЕС)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" name="Google Shape;161;p17"/>
          <p:cNvGraphicFramePr/>
          <p:nvPr>
            <p:extLst>
              <p:ext uri="{D42A27DB-BD31-4B8C-83A1-F6EECF244321}">
                <p14:modId xmlns:p14="http://schemas.microsoft.com/office/powerpoint/2010/main" val="205596235"/>
              </p:ext>
            </p:extLst>
          </p:nvPr>
        </p:nvGraphicFramePr>
        <p:xfrm>
          <a:off x="581025" y="3156942"/>
          <a:ext cx="11029950" cy="1724000"/>
        </p:xfrm>
        <a:graphic>
          <a:graphicData uri="http://schemas.openxmlformats.org/drawingml/2006/table">
            <a:tbl>
              <a:tblPr firstRow="1" bandRow="1">
                <a:noFill/>
                <a:tableStyleId>{85C7A545-5E8F-4A1A-A818-362B46C552DA}</a:tableStyleId>
              </a:tblPr>
              <a:tblGrid>
                <a:gridCol w="176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 err="1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Гипотеза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 err="1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Что</a:t>
                      </a:r>
                      <a:r>
                        <a:rPr lang="en-US" sz="1600" b="1" i="0" u="none" strike="noStrike" cap="none" dirty="0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600" b="1" i="0" u="none" strike="noStrike" cap="none" dirty="0" err="1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делаем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Метрика успеха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Риски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Referral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Акция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«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Пригласи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коллегу-админа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»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K-factor &gt; 0.2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Абуз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системы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B2B Пилоты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Прямые продажи в веб-студии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Конверсия &gt; 10%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Цикл сделки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Retention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Маркетплейс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команд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внутри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приложения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Retention +15%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Лень</a:t>
                      </a:r>
                      <a:r>
                        <a:rPr lang="en-US" sz="16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6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юзеров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2" name="Google Shape;162;p17"/>
          <p:cNvSpPr/>
          <p:nvPr/>
        </p:nvSpPr>
        <p:spPr>
          <a:xfrm>
            <a:off x="581025" y="3566517"/>
            <a:ext cx="1764208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2345233" y="3566517"/>
            <a:ext cx="5020121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7365355" y="3566517"/>
            <a:ext cx="2323504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9688859" y="3566517"/>
            <a:ext cx="192211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581025" y="4009429"/>
            <a:ext cx="176420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2345233" y="4009429"/>
            <a:ext cx="502012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7365355" y="4009429"/>
            <a:ext cx="232350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9688859" y="4009429"/>
            <a:ext cx="19221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581025" y="4438054"/>
            <a:ext cx="176420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345233" y="4438054"/>
            <a:ext cx="502012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7365355" y="4438054"/>
            <a:ext cx="232350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9688859" y="4438054"/>
            <a:ext cx="19221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581025" y="4866679"/>
            <a:ext cx="176420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2345233" y="4866679"/>
            <a:ext cx="502012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7365355" y="4866679"/>
            <a:ext cx="232350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9688859" y="4866679"/>
            <a:ext cx="19221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581025" y="865584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ЭКСПЕРИМЕНТЫ (3–12 МЕС)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2025" y="4379118"/>
            <a:ext cx="4943475" cy="1146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4379118"/>
            <a:ext cx="4943475" cy="114657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771525" y="2607468"/>
            <a:ext cx="32956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1 500 ₽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771525" y="3607593"/>
            <a:ext cx="32956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CAC (ПРИВЛЕЧЕНИЕ)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4448175" y="2607468"/>
            <a:ext cx="32956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85%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4448175" y="3607593"/>
            <a:ext cx="32956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ВАЛОВАЯ МАРЖА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8124825" y="2607468"/>
            <a:ext cx="32956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 мес.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8124825" y="3607593"/>
            <a:ext cx="32956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ОКУПАЕМОСТЬ (PAYBACK)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1162050" y="4750593"/>
            <a:ext cx="4543425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COGS (150 ₽/мес):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Затраты на API Gemini, STT VOSK и серверные мощности на одного юзера.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486525" y="4750593"/>
            <a:ext cx="4543425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ФОТ: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На старте работа за доли (Sweat Equity), далее от 200к на команду при росте MRR.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581025" y="865584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ЮНИТ-ЭКОНОМИКА И ЗАТРАТЫ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665684"/>
            <a:ext cx="11029950" cy="461129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581025" y="5803999"/>
            <a:ext cx="110299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* Значения выручки (MRR) в рублях. Базовый сценарий обеспечивает операционную прибыль ~400к руб/мес.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81025" y="865584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ПРОГНОЗ ВЫРУЧКИ (КОНЕЦ 1 ГОДА)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/>
        </p:nvSpPr>
        <p:spPr>
          <a:xfrm>
            <a:off x="914400" y="2454825"/>
            <a:ext cx="10696575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Рост стоимости API (+50%):</a:t>
            </a:r>
            <a:r>
              <a:rPr lang="en-US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Снижение маржинальности с 85% до 77%. Проект остается прибыльным, бизнес-модель устойчива.</a:t>
            </a:r>
            <a:endParaRPr sz="1600"/>
          </a:p>
        </p:txBody>
      </p:sp>
      <p:sp>
        <p:nvSpPr>
          <p:cNvPr id="209" name="Google Shape;209;p20"/>
          <p:cNvSpPr txBox="1"/>
          <p:nvPr/>
        </p:nvSpPr>
        <p:spPr>
          <a:xfrm>
            <a:off x="914400" y="3077522"/>
            <a:ext cx="10696575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Увеличение CAC до 3 000 руб:</a:t>
            </a:r>
            <a:r>
              <a:rPr lang="en-US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Окупаемость клиента (Payback) растягивается до 4 месяцев. Потребуется подушка ~1.5 млн руб. для роста.</a:t>
            </a:r>
            <a:endParaRPr sz="1600"/>
          </a:p>
        </p:txBody>
      </p:sp>
      <p:sp>
        <p:nvSpPr>
          <p:cNvPr id="210" name="Google Shape;210;p20"/>
          <p:cNvSpPr txBox="1"/>
          <p:nvPr/>
        </p:nvSpPr>
        <p:spPr>
          <a:xfrm>
            <a:off x="914400" y="3700219"/>
            <a:ext cx="10696575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Снижение Churn (15% -&gt; 7%):</a:t>
            </a:r>
            <a:r>
              <a:rPr lang="en-US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LTV вырастает в 2 раза. Оценка компании увеличивается на 40% на горизонте 2 лет без новых вложений.</a:t>
            </a:r>
            <a:endParaRPr sz="1600"/>
          </a:p>
        </p:txBody>
      </p:sp>
      <p:pic>
        <p:nvPicPr>
          <p:cNvPr id="211" name="Google Shape;21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4786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0133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77260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581025" y="865584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АНАЛИЗ ЧУВСТВИТЕЛЬНОСТИ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221011"/>
            <a:ext cx="11029950" cy="1687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6087988"/>
            <a:ext cx="110299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194472"/>
            <a:ext cx="5395912" cy="2703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3194472"/>
            <a:ext cx="5395912" cy="270301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876300" y="1782986"/>
            <a:ext cx="1096137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Метод Comparables (Сравнение)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876300" y="2278286"/>
            <a:ext cx="104394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Логика: Сравнение со средними SaaS проектами на ранней стадии в СНГ.</a:t>
            </a:r>
            <a:endParaRPr/>
          </a:p>
        </p:txBody>
      </p:sp>
      <p:pic>
        <p:nvPicPr>
          <p:cNvPr id="226" name="Google Shape;22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6278488"/>
            <a:ext cx="106489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6300" y="4223172"/>
            <a:ext cx="50456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База (ARR)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876300" y="4718472"/>
            <a:ext cx="4805362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Прогноз годовой выручки (Базовый сценарий):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876300" y="5186983"/>
            <a:ext cx="480536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11,8 млн ₽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510337" y="4223172"/>
            <a:ext cx="50456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Мультипликатор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510337" y="4718472"/>
            <a:ext cx="4805362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Консервативный EV/ARR для микро-SaaS: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510337" y="5186983"/>
            <a:ext cx="480536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2x — 3x</a:t>
            </a:r>
            <a:endParaRPr/>
          </a:p>
        </p:txBody>
      </p:sp>
      <p:pic>
        <p:nvPicPr>
          <p:cNvPr id="233" name="Google Shape;233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300" y="352784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10337" y="352784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581025" y="464752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ОЦЕНКА (МУЛЬТИПЛИКАТОРЫ)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841599"/>
            <a:ext cx="5324475" cy="425946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581025" y="2108299"/>
            <a:ext cx="559069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Venture Capital Method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581025" y="2603599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Прогноз выручки (Exit Year 3): ~40 млн руб.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581025" y="3014960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Exit Value (x3): 120 млн руб.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581025" y="3426321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Требуемая доходность (ROI): 10x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6477000" y="2203549"/>
            <a:ext cx="49434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Тренд роста MRR (Базовый)</a:t>
            </a:r>
            <a:endParaRPr/>
          </a:p>
        </p:txBody>
      </p:sp>
      <p:pic>
        <p:nvPicPr>
          <p:cNvPr id="247" name="Google Shape;24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4047232"/>
            <a:ext cx="4943475" cy="26163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581025" y="865584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ОЦЕНКА (ВЕНЧУРНЫЙ МЕТОД)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/>
        </p:nvSpPr>
        <p:spPr>
          <a:xfrm>
            <a:off x="581025" y="865584"/>
            <a:ext cx="5190648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ИТОГИ И ДОПУЩЕНИЯ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499606" y="2320525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Диапазон</a:t>
            </a:r>
            <a:r>
              <a:rPr lang="en-US" sz="2100" b="0" i="0" u="none" strike="noStrike" cap="none" dirty="0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 12 — 35 </a:t>
            </a:r>
            <a:r>
              <a:rPr lang="en-US" sz="2100" b="0" i="0" u="none" strike="noStrike" cap="none" dirty="0" err="1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млн</a:t>
            </a:r>
            <a:r>
              <a:rPr lang="en-US" sz="2100" b="0" i="0" u="none" strike="noStrike" cap="none" dirty="0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₽</a:t>
            </a:r>
            <a:endParaRPr dirty="0"/>
          </a:p>
        </p:txBody>
      </p:sp>
      <p:sp>
        <p:nvSpPr>
          <p:cNvPr id="257" name="Google Shape;257;p23"/>
          <p:cNvSpPr txBox="1"/>
          <p:nvPr/>
        </p:nvSpPr>
        <p:spPr>
          <a:xfrm>
            <a:off x="499606" y="2958700"/>
            <a:ext cx="4943475" cy="926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Проект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стадии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MVP.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Разброс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отражает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разницу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между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«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идеальной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»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рыночной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картиной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рисками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VC-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инвестора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58" name="Google Shape;258;p23"/>
          <p:cNvSpPr txBox="1"/>
          <p:nvPr/>
        </p:nvSpPr>
        <p:spPr>
          <a:xfrm>
            <a:off x="6223999" y="2191943"/>
            <a:ext cx="4943475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Ключевые</a:t>
            </a:r>
            <a:r>
              <a:rPr lang="en-US" sz="2100" b="1" i="0" u="none" strike="noStrike" cap="none" dirty="0">
                <a:solidFill>
                  <a:srgbClr val="10B981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 </a:t>
            </a:r>
            <a:r>
              <a:rPr lang="en-US" sz="2100" b="1" i="0" u="none" strike="noStrike" cap="none" dirty="0" err="1">
                <a:solidFill>
                  <a:srgbClr val="10B981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риски</a:t>
            </a:r>
            <a:r>
              <a:rPr lang="en-US" sz="2100" b="1" i="0" u="none" strike="noStrike" cap="none" dirty="0">
                <a:solidFill>
                  <a:srgbClr val="10B981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:</a:t>
            </a:r>
            <a:r>
              <a:rPr lang="ru-RU" sz="2100" b="1" i="0" u="none" strike="noStrike" cap="none" dirty="0">
                <a:solidFill>
                  <a:srgbClr val="10B981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 </a:t>
            </a:r>
            <a:endParaRPr sz="2100" dirty="0">
              <a:solidFill>
                <a:srgbClr val="10B981"/>
              </a:solidFill>
              <a:latin typeface="Inter SemiBold" panose="020B0604020202020204" charset="0"/>
              <a:ea typeface="Inter SemiBold" panose="020B0604020202020204" charset="0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6745266" y="3307839"/>
            <a:ext cx="46101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Доступность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API Gemini</a:t>
            </a:r>
            <a:endParaRPr sz="1800" dirty="0"/>
          </a:p>
        </p:txBody>
      </p:sp>
      <p:sp>
        <p:nvSpPr>
          <p:cNvPr id="260" name="Google Shape;260;p23"/>
          <p:cNvSpPr txBox="1"/>
          <p:nvPr/>
        </p:nvSpPr>
        <p:spPr>
          <a:xfrm>
            <a:off x="6745266" y="3670791"/>
            <a:ext cx="46101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Churn rate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не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более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15%</a:t>
            </a:r>
            <a:endParaRPr sz="1800" dirty="0"/>
          </a:p>
        </p:txBody>
      </p:sp>
      <p:sp>
        <p:nvSpPr>
          <p:cNvPr id="261" name="Google Shape;261;p23"/>
          <p:cNvSpPr txBox="1"/>
          <p:nvPr/>
        </p:nvSpPr>
        <p:spPr>
          <a:xfrm>
            <a:off x="6745266" y="4124071"/>
            <a:ext cx="46101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Отсутствие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Copilot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PC-fleet</a:t>
            </a:r>
            <a:endParaRPr sz="1800" dirty="0"/>
          </a:p>
        </p:txBody>
      </p:sp>
      <p:pic>
        <p:nvPicPr>
          <p:cNvPr id="262" name="Google Shape;26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3310" y="339326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3310" y="37760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9573" y="420894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722685"/>
            <a:ext cx="5395912" cy="1337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2" y="1722685"/>
            <a:ext cx="5395912" cy="1337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297882"/>
            <a:ext cx="5395912" cy="1337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3297882"/>
            <a:ext cx="5395912" cy="133707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305276" y="5111204"/>
            <a:ext cx="1158144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ВОПРОСЫ?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581025" y="5804594"/>
            <a:ext cx="11029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Команда 8 | Проект «Пятница»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876300" y="2189410"/>
            <a:ext cx="4805362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 Доказательство спроса: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Получить первые 50 оплат живыми деньгами.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6510337" y="2189410"/>
            <a:ext cx="4805362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 Снижение CAC: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Партнерство с IT-блогерами по CPA-модели.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876300" y="3764607"/>
            <a:ext cx="4805362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 Юнит-экономика: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Кэширование команд LLM для снижения костов.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6510337" y="3764607"/>
            <a:ext cx="4805362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4. B2B потенциал: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Упаковка продукта для сисадминов/компаний.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581025" y="865584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ПЛАН ПОВЫШЕНИЯ ОЦЕНКИ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641</Words>
  <Application>Microsoft Office PowerPoint</Application>
  <PresentationFormat>Широкоэкранный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Calibri</vt:lpstr>
      <vt:lpstr>Inter</vt:lpstr>
      <vt:lpstr>JetBrains Mono</vt:lpstr>
      <vt:lpstr>Inter SemiBold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Цыганов Кирилл</cp:lastModifiedBy>
  <cp:revision>2</cp:revision>
  <dcterms:modified xsi:type="dcterms:W3CDTF">2026-05-05T23:04:23Z</dcterms:modified>
</cp:coreProperties>
</file>