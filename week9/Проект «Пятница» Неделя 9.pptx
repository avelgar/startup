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FDDDBA3-C5F4-43C3-B651-14DBBCDF7A40}">
          <p14:sldIdLst>
            <p14:sldId id="256"/>
            <p14:sldId id="257"/>
            <p14:sldId id="258"/>
            <p14:sldId id="259"/>
            <p14:sldId id="260"/>
            <p14:sldId id="261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C9D326-0DCF-41F5-9821-14E17F61AB07}">
  <a:tblStyle styleId="{BFC9D326-0DCF-41F5-9821-14E17F61AB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1a0ab2c3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1a0ab2c3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1a0ab2c3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1a0ab2c3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a0ab2c3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a0ab2c3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1a0ab2c3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1a0ab2c3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418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 «Пятница»</a:t>
            </a:r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311700" y="1508497"/>
            <a:ext cx="4242600" cy="27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Неделя </a:t>
            </a:r>
            <a:r>
              <a:rPr lang="en-US" dirty="0">
                <a:solidFill>
                  <a:srgbClr val="000000"/>
                </a:solidFill>
              </a:rPr>
              <a:t>9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Команда 8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Цыганов Кирилл Андреевич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Солодкин Максим Дмитриевич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Валиев Артур Амирович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Лемешев Владислав Сергеевич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000000"/>
                </a:solidFill>
              </a:rPr>
              <a:t>Пушкин Владимир Александрович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226932"/>
            <a:ext cx="8520600" cy="847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Гипотезы MVP и критерии успеха</a:t>
            </a:r>
          </a:p>
        </p:txBody>
      </p:sp>
      <p:sp>
        <p:nvSpPr>
          <p:cNvPr id="71" name="Google Shape;71;p14"/>
          <p:cNvSpPr txBox="1"/>
          <p:nvPr/>
        </p:nvSpPr>
        <p:spPr>
          <a:xfrm>
            <a:off x="311700" y="1775148"/>
            <a:ext cx="8520600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Сегмент: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Power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users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сисадмины, управляющие 2+ ПК.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Ценность: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Выполнение рутинных команд на удаленном устройстве голосом без переключения контекста и настройки сетей.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Проверяемые гипотезы: </a:t>
            </a:r>
            <a:endParaRPr lang="en-US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Ценность: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Пользователям удобнее произнести команду, чем использовать RDP /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AnyDesk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простых действий (открыть/закрыть приложение).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Сценарий: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Пользователи смогут самостоятельно связать два ПК через систему комнат (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без сложных инструкций.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Барьер: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Задержка в 3-4 секунды (STT +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Gemini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LLM) является приемлемой для пользователя.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Критерий успеха: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 из 5 респондентов успешно связывают устройства и выполняют минимум 3 кросс-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девайсные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команды.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166862"/>
            <a:ext cx="8520600" cy="941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Бизнес-прототип и план тестирования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DD6DA-7B21-43C9-8533-7DA5FE74AC0A}"/>
              </a:ext>
            </a:extLst>
          </p:cNvPr>
          <p:cNvSpPr txBox="1"/>
          <p:nvPr/>
        </p:nvSpPr>
        <p:spPr>
          <a:xfrm>
            <a:off x="0" y="1903459"/>
            <a:ext cx="914399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Формат прототипа: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Рабочий MVP-клиент (C#) + запущенный Python-сервер для обработки команд.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Почему этот формат: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Нам важно проверить не только UI, но и реальную отработку VOSK (STT) на машинах пользователей и работу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WebSocket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за NAT. </a:t>
            </a:r>
          </a:p>
          <a:p>
            <a:pPr algn="l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Что тестируем: 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Понятность процесса регистрации устройства и подключения других устройств.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Точность распознавания имени бота русским голосом.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План теста: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Модерируемое тестирование (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созвон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в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Discord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/Telegram). 5 респондентов.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Сценарий: 1. Установить на 2 ПК -&gt; 2. Зарегистрировать оба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устроства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-&gt; 3. Произнести: «Пятница, открой Яндекс на втором ПК» -&gt; 4. Оценить результат.</a:t>
            </a:r>
            <a:endParaRPr lang="ru-RU" i="0" dirty="0">
              <a:solidFill>
                <a:srgbClr val="2B2D3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200234"/>
            <a:ext cx="8520600" cy="954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Результаты тестирования: выявленные паттерны</a:t>
            </a:r>
          </a:p>
        </p:txBody>
      </p:sp>
      <p:sp>
        <p:nvSpPr>
          <p:cNvPr id="83" name="Google Shape;83;p16"/>
          <p:cNvSpPr txBox="1"/>
          <p:nvPr/>
        </p:nvSpPr>
        <p:spPr>
          <a:xfrm>
            <a:off x="311700" y="1966591"/>
            <a:ext cx="85206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Проведено 5 тестов. </a:t>
            </a:r>
          </a:p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Успешно дошли до конца: 3/5. </a:t>
            </a:r>
          </a:p>
          <a:p>
            <a:pPr algn="l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Главные проблемы (Узкие места): 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Паттерн «Трудности перевода»: VOSK STT иногда некорректно распознает сленг или английские названия с русским акцентом (вместо «Хром» слышит «гром»). LLM не всегда может это исправить.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Паттерн «Ожидание»: Задержка в 4 секунды для команды «закрыть браузер» кажется пользователям долгой. «Руками было бы быстрее».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Паттерн «Именование ПК»: Люди путаются, как обращаться к устройствам («Компьютер 1», «Ноутбук», «Рабочий»).</a:t>
            </a:r>
            <a:endParaRPr lang="ru-RU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25" y="146838"/>
            <a:ext cx="8520600" cy="11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Воронка </a:t>
            </a:r>
            <a:r>
              <a:rPr lang="en-US" dirty="0"/>
              <a:t>MVP </a:t>
            </a:r>
            <a:r>
              <a:rPr lang="ru-RU" dirty="0"/>
              <a:t>и </a:t>
            </a:r>
            <a:r>
              <a:rPr lang="en-US" dirty="0"/>
              <a:t>North Star Metric</a:t>
            </a:r>
            <a:endParaRPr lang="ru-RU" dirty="0"/>
          </a:p>
        </p:txBody>
      </p:sp>
      <p:sp>
        <p:nvSpPr>
          <p:cNvPr id="89" name="Google Shape;89;p17"/>
          <p:cNvSpPr txBox="1"/>
          <p:nvPr/>
        </p:nvSpPr>
        <p:spPr>
          <a:xfrm>
            <a:off x="311725" y="2292256"/>
            <a:ext cx="85206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North Star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Metric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(NSM): Количество успешно выполненных кросс-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девайсных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команд в неделю на одного активного пользователя.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Воронка (User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Flow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и конверсия: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Запуск приложения (Метрика: DAU)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Голосовой триггер STT (Метрика: количество распознанных фраз).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LLM Маршрутизация (Метрика: % успешно сгенерированных JSON без галлюцинаций). ← Точка потери: нераспознанный контекст.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66861"/>
            <a:ext cx="8520600" cy="847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Backlog </a:t>
            </a:r>
            <a:r>
              <a:rPr lang="ru-RU" dirty="0"/>
              <a:t>доработок</a:t>
            </a:r>
            <a:endParaRPr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0141B3BB-986C-48D2-8D25-DFD47DE73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123712"/>
              </p:ext>
            </p:extLst>
          </p:nvPr>
        </p:nvGraphicFramePr>
        <p:xfrm>
          <a:off x="0" y="1259168"/>
          <a:ext cx="9144000" cy="3884333"/>
        </p:xfrm>
        <a:graphic>
          <a:graphicData uri="http://schemas.openxmlformats.org/drawingml/2006/table">
            <a:tbl>
              <a:tblPr firstRow="1" bandRow="1">
                <a:tableStyleId>{BFC9D326-0DCF-41F5-9821-14E17F61AB07}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13074182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083668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26700731"/>
                    </a:ext>
                  </a:extLst>
                </a:gridCol>
              </a:tblGrid>
              <a:tr h="280313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effectLst/>
                        </a:rPr>
                        <a:t>Задача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effectLst/>
                        </a:rPr>
                        <a:t>Статус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44769806"/>
                  </a:ext>
                </a:extLst>
              </a:tr>
              <a:tr h="280313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1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Вывод компьютера из спящего режима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🟢 </a:t>
                      </a:r>
                      <a:r>
                        <a:rPr lang="ru-RU" sz="1000">
                          <a:effectLst/>
                        </a:rPr>
                        <a:t>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67573249"/>
                  </a:ext>
                </a:extLst>
              </a:tr>
              <a:tr h="440491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2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Блокировка обработки команд во время ответа бота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🟢 </a:t>
                      </a:r>
                      <a:r>
                        <a:rPr lang="ru-RU" sz="1000" dirty="0">
                          <a:effectLst/>
                        </a:rPr>
                        <a:t>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815478182"/>
                  </a:ext>
                </a:extLst>
              </a:tr>
              <a:tr h="440491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3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Поиск и интеграция бесплатного TTS-движка для Windows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🟢 </a:t>
                      </a:r>
                      <a:r>
                        <a:rPr lang="ru-RU" sz="1000">
                          <a:effectLst/>
                        </a:rPr>
                        <a:t>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28892783"/>
                  </a:ext>
                </a:extLst>
              </a:tr>
              <a:tr h="280313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4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Добавление кастомных путей приложений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🟢 </a:t>
                      </a:r>
                      <a:r>
                        <a:rPr lang="ru-RU" sz="1000">
                          <a:effectLst/>
                        </a:rPr>
                        <a:t>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34265149"/>
                  </a:ext>
                </a:extLst>
              </a:tr>
              <a:tr h="440491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5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Добавление своей музыки (пользовательские пути)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🟢 </a:t>
                      </a:r>
                      <a:r>
                        <a:rPr lang="ru-RU" sz="1000" dirty="0">
                          <a:effectLst/>
                        </a:rPr>
                        <a:t>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49551470"/>
                  </a:ext>
                </a:extLst>
              </a:tr>
              <a:tr h="440491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6</a:t>
                      </a:r>
                      <a:endParaRPr lang="en-US" sz="10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Переключение и сворачивание вкладок (Win API)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🟡 </a:t>
                      </a:r>
                      <a:r>
                        <a:rPr lang="ru-RU" sz="1000" dirty="0">
                          <a:effectLst/>
                        </a:rPr>
                        <a:t>В работе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76042674"/>
                  </a:ext>
                </a:extLst>
              </a:tr>
              <a:tr h="440491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7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</a:rPr>
                        <a:t>Доработка управления громкостью (учет системных микшеров)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effectLst/>
                        </a:rPr>
                        <a:t>🟢 </a:t>
                      </a:r>
                      <a:r>
                        <a:rPr lang="ru-RU" sz="1000">
                          <a:effectLst/>
                        </a:rPr>
                        <a:t>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51495298"/>
                  </a:ext>
                </a:extLst>
              </a:tr>
              <a:tr h="280313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8.1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Удаление сообщений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🟡 </a:t>
                      </a:r>
                      <a:r>
                        <a:rPr lang="ru-RU" sz="1000" dirty="0">
                          <a:effectLst/>
                        </a:rPr>
                        <a:t>Частично 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15791786"/>
                  </a:ext>
                </a:extLst>
              </a:tr>
              <a:tr h="280313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8.2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Редактирование сообщений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🟡 </a:t>
                      </a:r>
                      <a:r>
                        <a:rPr lang="ru-RU" sz="1000" dirty="0">
                          <a:effectLst/>
                        </a:rPr>
                        <a:t>Частично 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29661265"/>
                  </a:ext>
                </a:extLst>
              </a:tr>
              <a:tr h="280313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effectLst/>
                        </a:rPr>
                        <a:t>8.3</a:t>
                      </a:r>
                      <a:endParaRPr lang="en-US" sz="10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>
                          <a:effectLst/>
                        </a:rPr>
                        <a:t>Регенерация последнего сообщения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🟡 </a:t>
                      </a:r>
                      <a:r>
                        <a:rPr lang="ru-RU" sz="1000" dirty="0">
                          <a:effectLst/>
                        </a:rPr>
                        <a:t>Частично выполнено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101164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66861"/>
            <a:ext cx="8520600" cy="847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Итоги итерации и планы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5DC6D-E779-4C36-9D6A-BBE5F656A7E6}"/>
              </a:ext>
            </a:extLst>
          </p:cNvPr>
          <p:cNvSpPr txBox="1"/>
          <p:nvPr/>
        </p:nvSpPr>
        <p:spPr>
          <a:xfrm>
            <a:off x="429490" y="2271114"/>
            <a:ext cx="828502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/>
              <a:t>Главный вывод: Базовая ценность подтверждена — концепция работает и вызывает вау-эффект. Однако текущий UX (непонимание процесса регистрации устройства) и задержки LLM мешают повседневному использованию. </a:t>
            </a:r>
          </a:p>
          <a:p>
            <a:pPr algn="l"/>
            <a:endParaRPr lang="ru-RU" dirty="0"/>
          </a:p>
          <a:p>
            <a:pPr algn="l"/>
            <a:r>
              <a:rPr lang="ru-RU" dirty="0"/>
              <a:t>Фокус на следующую неделю (Спринт): 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/>
              <a:t>Внедрение UI-индикаторов или экранов </a:t>
            </a:r>
            <a:r>
              <a:rPr lang="ru-RU" dirty="0" err="1"/>
              <a:t>онбординга</a:t>
            </a:r>
            <a:r>
              <a:rPr lang="ru-RU" dirty="0"/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/>
              <a:t>Реализация </a:t>
            </a:r>
            <a:r>
              <a:rPr lang="ru-RU" dirty="0" err="1"/>
              <a:t>почанковой</a:t>
            </a:r>
            <a:r>
              <a:rPr lang="ru-RU" dirty="0"/>
              <a:t> передачи сообщений с сервера Python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-RU" dirty="0"/>
              <a:t>Доработка </a:t>
            </a:r>
            <a:r>
              <a:rPr lang="ru-RU" dirty="0" err="1"/>
              <a:t>промпта</a:t>
            </a:r>
            <a:r>
              <a:rPr lang="ru-RU" dirty="0"/>
              <a:t> </a:t>
            </a:r>
            <a:r>
              <a:rPr lang="ru-RU" dirty="0" err="1"/>
              <a:t>Gemini</a:t>
            </a:r>
            <a:r>
              <a:rPr lang="ru-RU" dirty="0"/>
              <a:t> для защиты от искажений STT-модуля. </a:t>
            </a:r>
          </a:p>
          <a:p>
            <a:pPr algn="l"/>
            <a:r>
              <a:rPr lang="ru-RU" dirty="0"/>
              <a:t>Метрики контроля для следующей версии: </a:t>
            </a:r>
          </a:p>
          <a:p>
            <a:pPr algn="l"/>
            <a:r>
              <a:rPr lang="ru-RU" dirty="0"/>
              <a:t>Увеличение % доведения команды до результата.</a:t>
            </a:r>
          </a:p>
          <a:p>
            <a:pPr algn="l"/>
            <a:r>
              <a:rPr lang="ru-RU" dirty="0"/>
              <a:t>Снижение среднего времени Time-</a:t>
            </a:r>
            <a:r>
              <a:rPr lang="ru-RU" dirty="0" err="1"/>
              <a:t>to</a:t>
            </a:r>
            <a:r>
              <a:rPr lang="ru-RU" dirty="0"/>
              <a:t>-</a:t>
            </a:r>
            <a:r>
              <a:rPr lang="ru-RU" dirty="0" err="1"/>
              <a:t>Valu</a:t>
            </a:r>
            <a:r>
              <a:rPr lang="ru-RU" dirty="0"/>
              <a:t>.</a:t>
            </a:r>
            <a:endParaRPr lang="ru-RU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617118"/>
      </p:ext>
    </p:extLst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588</Words>
  <Application>Microsoft Office PowerPoint</Application>
  <PresentationFormat>Экран (16:9)</PresentationFormat>
  <Paragraphs>87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Roboto</vt:lpstr>
      <vt:lpstr>Arial</vt:lpstr>
      <vt:lpstr>Merriweather</vt:lpstr>
      <vt:lpstr>Paradigm</vt:lpstr>
      <vt:lpstr>Проект «Пятница»</vt:lpstr>
      <vt:lpstr>Гипотезы MVP и критерии успеха</vt:lpstr>
      <vt:lpstr>Бизнес-прототип и план тестирования</vt:lpstr>
      <vt:lpstr>Результаты тестирования: выявленные паттерны</vt:lpstr>
      <vt:lpstr>Воронка MVP и North Star Metric</vt:lpstr>
      <vt:lpstr>Backlog доработок</vt:lpstr>
      <vt:lpstr>Итоги итерации и планы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«Пятница»</dc:title>
  <cp:lastModifiedBy>Цыганов Кирилл</cp:lastModifiedBy>
  <cp:revision>24</cp:revision>
  <dcterms:modified xsi:type="dcterms:W3CDTF">2026-04-08T11:54:34Z</dcterms:modified>
</cp:coreProperties>
</file>