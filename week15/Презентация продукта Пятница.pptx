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Space Grotesk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1BC343-EF03-4D15-9E74-181C63CF8D24}">
  <a:tblStyle styleId="{381BC343-EF03-4D15-9E74-181C63CF8D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1646" y="3399532"/>
            <a:ext cx="3948410" cy="30764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42078" y="1258341"/>
            <a:ext cx="5307694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Пятница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68451" y="2448966"/>
            <a:ext cx="5054947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Голосовой ассистент для управления ПК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101" y="43919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416921" y="3694807"/>
            <a:ext cx="352575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1A1AA"/>
                </a:solidFill>
                <a:latin typeface="Space Grotesk"/>
                <a:ea typeface="Space Grotesk"/>
                <a:cs typeface="Space Grotesk"/>
                <a:sym typeface="Space Grotesk"/>
              </a:rPr>
              <a:t>Разработка продукта (Демоверсия)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4416921" y="4037707"/>
            <a:ext cx="335786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416921" y="4237732"/>
            <a:ext cx="33578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PM: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Валиев А.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416921" y="4626322"/>
            <a:ext cx="33578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Солодкин М.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16921" y="5014912"/>
            <a:ext cx="33578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Цыганов К.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416921" y="5403502"/>
            <a:ext cx="33578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QA: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Пушкин В.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416921" y="5792092"/>
            <a:ext cx="33578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Маркетинг: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Лемешев В.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135534"/>
            <a:ext cx="5276850" cy="356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5534"/>
            <a:ext cx="5276850" cy="35678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Границы разработки (Scope) и DoD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71550" y="2526059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 (</a:t>
            </a:r>
            <a:r>
              <a:rPr lang="en-US" sz="2400" b="1" i="0" u="none" strike="noStrike" cap="none" dirty="0" err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Границы</a:t>
            </a:r>
            <a:r>
              <a:rPr lang="en-US" sz="2400" b="1" i="0" u="none" strike="noStrike" cap="none" dirty="0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6724650" y="2526059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Definition of Done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55463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066800" y="31178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1162050" y="3049934"/>
            <a:ext cx="43053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Must: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Захват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голоса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Текст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(VOSK) → Python-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сервер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→ Gemini JSON → WebSocket →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Исполнение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ПК.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1066800" y="405504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1162050" y="3987105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Should: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Базовый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регистрации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одной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«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комнате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»,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обработка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ошибок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(ПК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сети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066800" y="471792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162050" y="4649985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Could: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Кастомные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bash/PowerShell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скрипты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внедрение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системы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оплаты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55463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819900" y="31178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6915150" y="3049934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Сценарий управления вторым ПК успешно проходит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end-to-end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19900" y="378075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6915150" y="3712815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Полностью реализованы все требования из категории Must (Ядро).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19900" y="444363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915150" y="4375695"/>
            <a:ext cx="43053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 ошибках (отсутствие интернета, нераспознанный голос) продукт не падает, а корректно отображает статус.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5443537"/>
            <a:ext cx="5276850" cy="85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3125" y="2161430"/>
            <a:ext cx="6169681" cy="371875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81025" y="56123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сценарий и контроль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114225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1542305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Основной процесс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81025" y="4018657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Точки контроля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23900" y="214038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819150" y="2066180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Триггер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Пользователь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произносит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фразу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«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Пятница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открой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браузер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Рабочем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ноуте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»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723900" y="280326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19150" y="2729061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Клиент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локально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переводит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голос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текст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723900" y="319185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19150" y="3117651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Сервер с помощью Gemini формирует JSON.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23900" y="358044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19150" y="3506241"/>
            <a:ext cx="50387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Результат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Запуск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приложения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browser.exe.</a:t>
            </a:r>
            <a:endParaRPr dirty="0"/>
          </a:p>
        </p:txBody>
      </p:sp>
      <p:sp>
        <p:nvSpPr>
          <p:cNvPr id="137" name="Google Shape;137;p15"/>
          <p:cNvSpPr txBox="1"/>
          <p:nvPr/>
        </p:nvSpPr>
        <p:spPr>
          <a:xfrm>
            <a:off x="723900" y="46167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19150" y="4542532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Успешная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отработка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VOSK и API Gemini.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723900" y="50053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19150" y="4931122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Доставка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пакета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WebSocket (NAT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пробит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733425" y="5595937"/>
            <a:ext cx="49720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Альтернативный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путь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ПК </a:t>
            </a:r>
            <a:r>
              <a:rPr lang="en-US" sz="1350" b="0" i="0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выключен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1350" b="0" i="0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Сервер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находит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сокет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1350" b="0" i="0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Возврат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ошибки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«</a:t>
            </a:r>
            <a:r>
              <a:rPr lang="en-US" sz="1350" b="0" i="1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Устройство</a:t>
            </a:r>
            <a:r>
              <a:rPr lang="en-US" sz="1350" b="0" i="1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350" b="0" i="1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350" b="0" i="1" u="none" strike="noStrike" cap="none" dirty="0" err="1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сети</a:t>
            </a:r>
            <a:r>
              <a:rPr lang="en-US" sz="1350" b="0" i="1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»</a:t>
            </a:r>
            <a:r>
              <a:rPr lang="en-US" sz="1350" b="0" i="0" u="none" strike="noStrike" cap="none" dirty="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2DB75B-1792-41B8-B9CC-950A6A45A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967" y="2371106"/>
            <a:ext cx="5713010" cy="3295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863179"/>
            <a:ext cx="5276850" cy="411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63179"/>
            <a:ext cx="5276850" cy="411271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Структура экранов и состояний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71550" y="2815679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Экран</a:t>
            </a:r>
            <a:r>
              <a:rPr lang="en-US" sz="2400" b="1" i="0" u="none" strike="noStrike" cap="none" dirty="0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 1: </a:t>
            </a:r>
            <a:r>
              <a:rPr lang="en-US" sz="2400" b="1" i="0" u="none" strike="noStrike" cap="none" dirty="0" err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Авторизация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971549" y="3339554"/>
            <a:ext cx="48863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Назначение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Авторизовать устройство и сделать его видимым для других </a:t>
            </a:r>
            <a:r>
              <a:rPr lang="ru-RU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устрйоств</a:t>
            </a:r>
            <a:endParaRPr dirty="0"/>
          </a:p>
        </p:txBody>
      </p:sp>
      <p:sp>
        <p:nvSpPr>
          <p:cNvPr id="153" name="Google Shape;153;p16"/>
          <p:cNvSpPr txBox="1"/>
          <p:nvPr/>
        </p:nvSpPr>
        <p:spPr>
          <a:xfrm>
            <a:off x="6724650" y="2815679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Экран</a:t>
            </a:r>
            <a:r>
              <a:rPr lang="en-US" sz="2400" b="1" i="0" u="none" strike="noStrike" cap="none" dirty="0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 2: </a:t>
            </a:r>
            <a:r>
              <a:rPr lang="ru-RU" sz="2400" b="1" i="0" u="none" strike="noStrike" cap="none" dirty="0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Главное окно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6743439" y="3339554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Назначение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Отображение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статуса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фоновой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работы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29180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1158266" y="44058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7" name="Google Shape;157;p16"/>
          <p:cNvSpPr txBox="1"/>
          <p:nvPr/>
        </p:nvSpPr>
        <p:spPr>
          <a:xfrm>
            <a:off x="1240990" y="4350422"/>
            <a:ext cx="42576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Empty: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Ввод имени 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пк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пароля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8" name="Google Shape;158;p16"/>
          <p:cNvSpPr txBox="1"/>
          <p:nvPr/>
        </p:nvSpPr>
        <p:spPr>
          <a:xfrm>
            <a:off x="1158266" y="479442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240990" y="4739013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Loading: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Поиск и подключение к серверу.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158266" y="518301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240990" y="5127603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Success: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Подключение установлено.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158266" y="557160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240990" y="5516193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Error: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Сервер недоступен.</a:t>
            </a:r>
            <a:endParaRPr/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29180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6649625" y="3726209"/>
            <a:ext cx="484926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Элементы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Список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подключенных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ПК,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консоль-лог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команд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7" name="Google Shape;167;p16"/>
          <p:cNvSpPr txBox="1"/>
          <p:nvPr/>
        </p:nvSpPr>
        <p:spPr>
          <a:xfrm>
            <a:off x="6786106" y="47631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856304" y="469517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Listening: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Ожидание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анализ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голоса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9" name="Google Shape;169;p16"/>
          <p:cNvSpPr txBox="1"/>
          <p:nvPr/>
        </p:nvSpPr>
        <p:spPr>
          <a:xfrm>
            <a:off x="6786106" y="5151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856304" y="5083762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Обработка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запроса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нейросети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Gemini.</a:t>
            </a:r>
            <a:endParaRPr dirty="0"/>
          </a:p>
        </p:txBody>
      </p:sp>
      <p:sp>
        <p:nvSpPr>
          <p:cNvPr id="26" name="Google Shape;166;p16">
            <a:extLst>
              <a:ext uri="{FF2B5EF4-FFF2-40B4-BE49-F238E27FC236}">
                <a16:creationId xmlns:a16="http://schemas.microsoft.com/office/drawing/2014/main" id="{B3008EA2-BCFA-4933-8865-539C3E70F54B}"/>
              </a:ext>
            </a:extLst>
          </p:cNvPr>
          <p:cNvSpPr txBox="1"/>
          <p:nvPr/>
        </p:nvSpPr>
        <p:spPr>
          <a:xfrm>
            <a:off x="6657976" y="4342071"/>
            <a:ext cx="42576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Состояния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27" name="Google Shape;166;p16">
            <a:extLst>
              <a:ext uri="{FF2B5EF4-FFF2-40B4-BE49-F238E27FC236}">
                <a16:creationId xmlns:a16="http://schemas.microsoft.com/office/drawing/2014/main" id="{C332C658-423E-4B4E-B2D5-05C1786A2D35}"/>
              </a:ext>
            </a:extLst>
          </p:cNvPr>
          <p:cNvSpPr txBox="1"/>
          <p:nvPr/>
        </p:nvSpPr>
        <p:spPr>
          <a:xfrm>
            <a:off x="890782" y="4064621"/>
            <a:ext cx="42576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Состояния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6" y="2197447"/>
            <a:ext cx="5276850" cy="3444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97447"/>
            <a:ext cx="5276850" cy="3444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111847"/>
            <a:ext cx="4495800" cy="998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4252912"/>
            <a:ext cx="4495800" cy="998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761333"/>
            <a:ext cx="44958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Модель данных и Контракт (DTO)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971550" y="2587972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Сущности Backend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724650" y="2677417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Контракт передачи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724650" y="3201292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Единый JSON формат маршрутизации:</a:t>
            </a:r>
            <a:endParaRPr/>
          </a:p>
        </p:txBody>
      </p:sp>
      <p:pic>
        <p:nvPicPr>
          <p:cNvPr id="185" name="Google Shape;18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261654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1123950" y="3264247"/>
            <a:ext cx="2181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 Room (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Комната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187" name="Google Shape;187;p17"/>
          <p:cNvSpPr txBox="1"/>
          <p:nvPr/>
        </p:nvSpPr>
        <p:spPr>
          <a:xfrm>
            <a:off x="1123950" y="3485704"/>
            <a:ext cx="4191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b="0" i="0" u="none" strike="noStrike" cap="none" dirty="0" err="1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room_id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list_of_devices</a:t>
            </a:r>
            <a:endParaRPr dirty="0"/>
          </a:p>
        </p:txBody>
      </p:sp>
      <p:sp>
        <p:nvSpPr>
          <p:cNvPr id="188" name="Google Shape;188;p17"/>
          <p:cNvSpPr txBox="1"/>
          <p:nvPr/>
        </p:nvSpPr>
        <p:spPr>
          <a:xfrm>
            <a:off x="1123950" y="4405312"/>
            <a:ext cx="233949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Device (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Устройство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189" name="Google Shape;189;p17"/>
          <p:cNvSpPr txBox="1"/>
          <p:nvPr/>
        </p:nvSpPr>
        <p:spPr>
          <a:xfrm>
            <a:off x="1123950" y="4681537"/>
            <a:ext cx="43434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b="0" i="0" u="none" strike="noStrike" cap="none" dirty="0" err="1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device_name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socket_id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(online/offline)</a:t>
            </a:r>
            <a:endParaRPr dirty="0"/>
          </a:p>
        </p:txBody>
      </p:sp>
      <p:pic>
        <p:nvPicPr>
          <p:cNvPr id="190" name="Google Shape;19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2705992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28850"/>
            <a:ext cx="3422600" cy="338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2228850"/>
            <a:ext cx="3422600" cy="338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8225" y="2228850"/>
            <a:ext cx="3422600" cy="338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Демо-скрипт и Инструкция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63790" y="3276600"/>
            <a:ext cx="285691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Шаг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1: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Подготовка</a:t>
            </a:r>
            <a:endParaRPr dirty="0"/>
          </a:p>
        </p:txBody>
      </p:sp>
      <p:sp>
        <p:nvSpPr>
          <p:cNvPr id="201" name="Google Shape;201;p18"/>
          <p:cNvSpPr txBox="1"/>
          <p:nvPr/>
        </p:nvSpPr>
        <p:spPr>
          <a:xfrm>
            <a:off x="876300" y="3800475"/>
            <a:ext cx="28320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Установите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C#-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клиент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ПК-1 и ПК-2. </a:t>
            </a:r>
            <a:r>
              <a:rPr lang="ru-RU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вяжите их с помощью пароля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одном из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устройств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2" name="Google Shape;202;p18"/>
          <p:cNvSpPr txBox="1"/>
          <p:nvPr/>
        </p:nvSpPr>
        <p:spPr>
          <a:xfrm>
            <a:off x="4946641" y="3276600"/>
            <a:ext cx="229856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Шаг 2: Триггер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679900" y="3800475"/>
            <a:ext cx="28320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Показываем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два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экрана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Произносим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нешаблонную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фразу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«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Пятница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ru-RU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открой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калькулятор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 браузере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втором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компе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»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8572098" y="3276600"/>
            <a:ext cx="265470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Шаг 3: Результат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483500" y="3800475"/>
            <a:ext cx="28320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Демонстрируем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как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втором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ПК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открывается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сайт с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калькулятор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а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дашборде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первого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появляется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сообщение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«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Успешно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».</a:t>
            </a:r>
            <a:endParaRPr dirty="0"/>
          </a:p>
        </p:txBody>
      </p:sp>
      <p:pic>
        <p:nvPicPr>
          <p:cNvPr id="206" name="Google Shape;20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3650" y="2571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4401" y="25717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99426" y="2571750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Результаты QA-тестирования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9"/>
          <p:cNvGraphicFramePr/>
          <p:nvPr>
            <p:extLst>
              <p:ext uri="{D42A27DB-BD31-4B8C-83A1-F6EECF244321}">
                <p14:modId xmlns:p14="http://schemas.microsoft.com/office/powerpoint/2010/main" val="341776002"/>
              </p:ext>
            </p:extLst>
          </p:nvPr>
        </p:nvGraphicFramePr>
        <p:xfrm>
          <a:off x="581025" y="2239416"/>
          <a:ext cx="11029975" cy="3360200"/>
        </p:xfrm>
        <a:graphic>
          <a:graphicData uri="http://schemas.openxmlformats.org/drawingml/2006/table">
            <a:tbl>
              <a:tblPr firstRow="1" bandRow="1">
                <a:noFill/>
                <a:tableStyleId>{381BC343-EF03-4D15-9E74-181C63CF8D24}</a:tableStyleId>
              </a:tblPr>
              <a:tblGrid>
                <a:gridCol w="15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6B6D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Тип теста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6B6D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Сценарий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6B6D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Ожидание / Факт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6B6D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Статус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Позитивный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Открыть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приложение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ПК-2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через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голос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Процесс запущен. Выполнено за 4 сек.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Успех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Негативный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Отправка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команды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когда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ПК-2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отключен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Wi-Fi.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Система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падает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Выдана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ошибка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«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Таймаут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».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Успех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Негативный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Неразборчивая речь (бормотание в микрофон).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VOSK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генерирует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мусор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Gemini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возвращает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ошибку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Успех</a:t>
                      </a:r>
                      <a:endParaRPr dirty="0"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6" name="Google Shape;216;p19"/>
          <p:cNvSpPr/>
          <p:nvPr/>
        </p:nvSpPr>
        <p:spPr>
          <a:xfrm>
            <a:off x="581025" y="2882354"/>
            <a:ext cx="151447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2095500" y="2882354"/>
            <a:ext cx="41060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6201519" y="2882354"/>
            <a:ext cx="425261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10454133" y="2882354"/>
            <a:ext cx="1156841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81025" y="3783359"/>
            <a:ext cx="151447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2095500" y="3783359"/>
            <a:ext cx="41060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201519" y="3783359"/>
            <a:ext cx="425261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10454133" y="3783359"/>
            <a:ext cx="1156841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581025" y="4684365"/>
            <a:ext cx="151447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2095500" y="4684365"/>
            <a:ext cx="41060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6201519" y="4684365"/>
            <a:ext cx="425261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0454133" y="4684365"/>
            <a:ext cx="1156841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81025" y="5585370"/>
            <a:ext cx="151447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2095500" y="5585370"/>
            <a:ext cx="4106019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201519" y="5585370"/>
            <a:ext cx="425261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10454133" y="5585370"/>
            <a:ext cx="1156841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2733" y="401672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82733" y="491772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82733" y="311571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82733" y="311571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2733" y="401672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82733" y="4917727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091779"/>
            <a:ext cx="3422600" cy="3655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2091779"/>
            <a:ext cx="3422600" cy="3655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8225" y="2091779"/>
            <a:ext cx="3422600" cy="365551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Реестр известных ограничений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1211955" y="2663279"/>
            <a:ext cx="216073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dirty="0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Задержка ответа</a:t>
            </a:r>
            <a:endParaRPr dirty="0"/>
          </a:p>
        </p:txBody>
      </p:sp>
      <p:sp>
        <p:nvSpPr>
          <p:cNvPr id="248" name="Google Shape;248;p20"/>
          <p:cNvSpPr txBox="1"/>
          <p:nvPr/>
        </p:nvSpPr>
        <p:spPr>
          <a:xfrm>
            <a:off x="829649" y="3663404"/>
            <a:ext cx="2925349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Сейчас сервер дожидается полного ответа от ИИ, затем режет его на куски и только потом отправляет на устройства. Это вызывает заметную паузу перед выполнением команды.</a:t>
            </a:r>
            <a:endParaRPr dirty="0"/>
          </a:p>
        </p:txBody>
      </p:sp>
      <p:sp>
        <p:nvSpPr>
          <p:cNvPr id="249" name="Google Shape;249;p20"/>
          <p:cNvSpPr txBox="1"/>
          <p:nvPr/>
        </p:nvSpPr>
        <p:spPr>
          <a:xfrm>
            <a:off x="4947110" y="2591365"/>
            <a:ext cx="229763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dirty="0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Ошибки LLM при сложных сценариях</a:t>
            </a:r>
            <a:endParaRPr dirty="0"/>
          </a:p>
        </p:txBody>
      </p:sp>
      <p:sp>
        <p:nvSpPr>
          <p:cNvPr id="250" name="Google Shape;250;p20"/>
          <p:cNvSpPr txBox="1"/>
          <p:nvPr/>
        </p:nvSpPr>
        <p:spPr>
          <a:xfrm>
            <a:off x="4679900" y="3663404"/>
            <a:ext cx="283205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ИИ иногда «тупит», когда задача требует двух скрытых запросов (например: сначала запросить у системы пути к программам -&gt; получить их -&gt; вторым шагом запустить нужный .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 </a:t>
            </a:r>
            <a:endParaRPr dirty="0"/>
          </a:p>
        </p:txBody>
      </p:sp>
      <p:sp>
        <p:nvSpPr>
          <p:cNvPr id="251" name="Google Shape;251;p20"/>
          <p:cNvSpPr txBox="1"/>
          <p:nvPr/>
        </p:nvSpPr>
        <p:spPr>
          <a:xfrm>
            <a:off x="8578069" y="2663279"/>
            <a:ext cx="264291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dirty="0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Отсутствие поддержки сложных команд</a:t>
            </a:r>
            <a:endParaRPr dirty="0"/>
          </a:p>
        </p:txBody>
      </p:sp>
      <p:sp>
        <p:nvSpPr>
          <p:cNvPr id="252" name="Google Shape;252;p20"/>
          <p:cNvSpPr txBox="1"/>
          <p:nvPr/>
        </p:nvSpPr>
        <p:spPr>
          <a:xfrm>
            <a:off x="8483500" y="3663404"/>
            <a:ext cx="283205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Утилита пока не умеет выполнять отложенные макросы или цепочки с ожиданием (например: "Открой Call 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Duty, подожди 30 секунд и нажми продолжить игру").</a:t>
            </a:r>
            <a:endParaRPr dirty="0"/>
          </a:p>
        </p:txBody>
      </p:sp>
      <p:pic>
        <p:nvPicPr>
          <p:cNvPr id="253" name="Google Shape;25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3724" y="22269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325" y="22269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3775" y="2226990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Backlog следующей итерации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1333500" y="1736526"/>
            <a:ext cx="9525000" cy="948630"/>
          </a:xfrm>
          <a:prstGeom prst="roundRect">
            <a:avLst>
              <a:gd name="adj" fmla="val 8032"/>
            </a:avLst>
          </a:prstGeom>
          <a:solidFill>
            <a:srgbClr val="18181B"/>
          </a:solidFill>
          <a:ln w="9525" cap="flat" cmpd="sng">
            <a:solidFill>
              <a:srgbClr val="272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1905000" y="1927026"/>
            <a:ext cx="876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MUST: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Потоковая передача данных (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Streaming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 Переписать логику обработки так, чтобы сервер получал ответ от ИИ по 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чанкам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сразу транслировал их на устройства для мгновенного выполнения.</a:t>
            </a:r>
            <a:endParaRPr dirty="0"/>
          </a:p>
        </p:txBody>
      </p:sp>
      <p:sp>
        <p:nvSpPr>
          <p:cNvPr id="264" name="Google Shape;264;p21"/>
          <p:cNvSpPr/>
          <p:nvPr/>
        </p:nvSpPr>
        <p:spPr>
          <a:xfrm>
            <a:off x="1333500" y="2828032"/>
            <a:ext cx="9525000" cy="948630"/>
          </a:xfrm>
          <a:prstGeom prst="roundRect">
            <a:avLst>
              <a:gd name="adj" fmla="val 8032"/>
            </a:avLst>
          </a:prstGeom>
          <a:solidFill>
            <a:srgbClr val="18181B"/>
          </a:solidFill>
          <a:ln w="9525" cap="flat" cmpd="sng">
            <a:solidFill>
              <a:srgbClr val="272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905000" y="3018532"/>
            <a:ext cx="876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MUST: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Engineering. Полный рефакторинг системного 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промпта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Gemini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Привлечение специалиста для того, чтобы ИИ четко понимал логику многоэтапных запросов.</a:t>
            </a:r>
            <a:endParaRPr dirty="0"/>
          </a:p>
        </p:txBody>
      </p:sp>
      <p:sp>
        <p:nvSpPr>
          <p:cNvPr id="266" name="Google Shape;266;p21"/>
          <p:cNvSpPr/>
          <p:nvPr/>
        </p:nvSpPr>
        <p:spPr>
          <a:xfrm>
            <a:off x="1333500" y="3919537"/>
            <a:ext cx="9525000" cy="948630"/>
          </a:xfrm>
          <a:prstGeom prst="roundRect">
            <a:avLst>
              <a:gd name="adj" fmla="val 8032"/>
            </a:avLst>
          </a:prstGeom>
          <a:solidFill>
            <a:srgbClr val="18181B"/>
          </a:solidFill>
          <a:ln w="9525" cap="flat" cmpd="sng">
            <a:solidFill>
              <a:srgbClr val="272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1905000" y="4110037"/>
            <a:ext cx="876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SHOULD: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Разработка функционала "повтора запросов". Система должна уметь разбивать сложную задачу на шаги и повторять скрытые запросы до тех пор, пока финальная цель не будет выполнена.</a:t>
            </a:r>
            <a:endParaRPr dirty="0"/>
          </a:p>
        </p:txBody>
      </p:sp>
      <p:sp>
        <p:nvSpPr>
          <p:cNvPr id="268" name="Google Shape;268;p21"/>
          <p:cNvSpPr/>
          <p:nvPr/>
        </p:nvSpPr>
        <p:spPr>
          <a:xfrm>
            <a:off x="1333500" y="5011042"/>
            <a:ext cx="9525000" cy="948630"/>
          </a:xfrm>
          <a:prstGeom prst="roundRect">
            <a:avLst>
              <a:gd name="adj" fmla="val 8032"/>
            </a:avLst>
          </a:prstGeom>
          <a:solidFill>
            <a:srgbClr val="18181B"/>
          </a:solidFill>
          <a:ln w="9525" cap="flat" cmpd="sng">
            <a:solidFill>
              <a:srgbClr val="272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1905000" y="5201542"/>
            <a:ext cx="8763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SHOULD: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Бизнес-задача: Интеграция платежного шлюза для старта приема оплат за PRO-версию.</a:t>
            </a:r>
            <a:endParaRPr dirty="0"/>
          </a:p>
        </p:txBody>
      </p:sp>
      <p:sp>
        <p:nvSpPr>
          <p:cNvPr id="270" name="Google Shape;270;p21"/>
          <p:cNvSpPr/>
          <p:nvPr/>
        </p:nvSpPr>
        <p:spPr>
          <a:xfrm>
            <a:off x="1333500" y="2675632"/>
            <a:ext cx="952500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1333500" y="3767137"/>
            <a:ext cx="952500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1333500" y="4858642"/>
            <a:ext cx="952500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1333500" y="5950148"/>
            <a:ext cx="952500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3525" y="194607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3525" y="30375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525" y="4129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525" y="522059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/>
        </p:nvSpPr>
        <p:spPr>
          <a:xfrm>
            <a:off x="581025" y="324242"/>
            <a:ext cx="5540692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Ключевые</a:t>
            </a:r>
            <a:r>
              <a:rPr lang="en-US" sz="3000" b="1" i="0" u="none" strike="noStrike" cap="none" dirty="0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3000" b="1" i="0" u="none" strike="noStrike" cap="none" dirty="0" err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выводы</a:t>
            </a:r>
            <a:r>
              <a:rPr lang="en-US" sz="3000" b="1" i="0" u="none" strike="noStrike" cap="none" dirty="0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3000" b="1" i="0" u="none" strike="noStrike" cap="none" dirty="0" err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по</a:t>
            </a:r>
            <a:r>
              <a:rPr lang="en-US" sz="3000" b="1" i="0" u="none" strike="noStrike" cap="none" dirty="0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3000" b="1" i="0" u="none" strike="noStrike" cap="none" dirty="0" err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проекту</a:t>
            </a:r>
            <a:endParaRPr dirty="0"/>
          </a:p>
        </p:txBody>
      </p:sp>
      <p:sp>
        <p:nvSpPr>
          <p:cNvPr id="283" name="Google Shape;283;p22"/>
          <p:cNvSpPr/>
          <p:nvPr/>
        </p:nvSpPr>
        <p:spPr>
          <a:xfrm>
            <a:off x="581025" y="1391042"/>
            <a:ext cx="52768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581025" y="1791092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Готовность MVP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581025" y="2314967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Разработанное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ядро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полностью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функционально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Сквозной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сценарий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взаимодействия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между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устройствами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стабильно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выполняется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87" name="Google Shape;287;p22"/>
          <p:cNvSpPr txBox="1"/>
          <p:nvPr/>
        </p:nvSpPr>
        <p:spPr>
          <a:xfrm>
            <a:off x="581025" y="3471212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Интеллект системы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581025" y="3995087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Связка локального VOSK и серверного Gemini доказала свою эффективность: система легко понимает контекст и не требует точных фраз.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581025" y="5151333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C55E"/>
                </a:solidFill>
                <a:latin typeface="Space Grotesk"/>
                <a:ea typeface="Space Grotesk"/>
                <a:cs typeface="Space Grotesk"/>
                <a:sym typeface="Space Grotesk"/>
              </a:rPr>
              <a:t>Передача в бету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581025" y="5675208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Продукт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готов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передаче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первым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бета-тестерам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из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числа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лояльных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системных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администраторов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сбора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реального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фидбека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FF8096-DAC0-4F33-9538-5C690ED1A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048" y="1207784"/>
            <a:ext cx="3560280" cy="46601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779</Words>
  <Application>Microsoft Office PowerPoint</Application>
  <PresentationFormat>Широкоэкранный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Inter</vt:lpstr>
      <vt:lpstr>Space Grotesk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Цыганов Кирилл</cp:lastModifiedBy>
  <cp:revision>8</cp:revision>
  <dcterms:modified xsi:type="dcterms:W3CDTF">2026-05-19T23:39:36Z</dcterms:modified>
</cp:coreProperties>
</file>