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4" r:id="rId9"/>
  </p:sldIdLst>
  <p:sldSz cx="9144000" cy="5143500" type="screen16x9"/>
  <p:notesSz cx="6858000" cy="9144000"/>
  <p:embeddedFontLst>
    <p:embeddedFont>
      <p:font typeface="Merriweather" panose="00000500000000000000" pitchFamily="2" charset="0"/>
      <p:regular r:id="rId11"/>
      <p:bold r:id="rId12"/>
      <p:italic r:id="rId13"/>
      <p:boldItalic r:id="rId14"/>
    </p:embeddedFont>
    <p:embeddedFont>
      <p:font typeface="Roboto" panose="020000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CFDDDBA3-C5F4-43C3-B651-14DBBCDF7A40}">
          <p14:sldIdLst>
            <p14:sldId id="256"/>
            <p14:sldId id="257"/>
            <p14:sldId id="265"/>
            <p14:sldId id="258"/>
            <p14:sldId id="259"/>
            <p14:sldId id="260"/>
            <p14:sldId id="261"/>
            <p14:sldId id="2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FC9D326-0DCF-41F5-9821-14E17F61AB07}">
  <a:tblStyle styleId="{BFC9D326-0DCF-41F5-9821-14E17F61AB0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02" d="100"/>
          <a:sy n="202" d="100"/>
        </p:scale>
        <p:origin x="624" y="17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1a0ab2c3a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1a0ab2c3a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1a0ab2c3a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1a0ab2c3a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52432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1a0ab2c3a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1a0ab2c3a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1a0ab2c3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1a0ab2c3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1a0ab2c3a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1a0ab2c3a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1a0ab2c3a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1a0ab2c3a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1a0ab2c3a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1a0ab2c3a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5418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avLst/>
            <a:gdLst/>
            <a:ahLst/>
            <a:cxnLst/>
            <a:rect l="l" t="t" r="r" b="b"/>
            <a:pathLst>
              <a:path w="172545" h="175975" extrusionOk="0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avLst/>
            <a:gdLst/>
            <a:ahLst/>
            <a:cxnLst/>
            <a:rect l="l" t="t" r="r" b="b"/>
            <a:pathLst>
              <a:path w="172676" h="175824" extrusionOk="0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2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 hasCustomPrompt="1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radig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>
            <a:spLocks noGrp="1"/>
          </p:cNvSpPr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Проект «Пятница»</a:t>
            </a:r>
            <a:endParaRPr dirty="0"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"/>
          </p:nvPr>
        </p:nvSpPr>
        <p:spPr>
          <a:xfrm>
            <a:off x="311700" y="1508497"/>
            <a:ext cx="4242600" cy="27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000000"/>
                </a:solidFill>
              </a:rPr>
              <a:t>Неделя </a:t>
            </a:r>
            <a:r>
              <a:rPr lang="ru-RU" dirty="0">
                <a:solidFill>
                  <a:srgbClr val="000000"/>
                </a:solidFill>
              </a:rPr>
              <a:t>10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000000"/>
                </a:solidFill>
              </a:rPr>
              <a:t>Команда 8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000000"/>
                </a:solidFill>
              </a:rPr>
              <a:t>Цыганов Кирилл Андреевич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000000"/>
                </a:solidFill>
              </a:rPr>
              <a:t>Солодкин Максим Дмитриевич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000000"/>
                </a:solidFill>
              </a:rPr>
              <a:t>Валиев Артур Амирович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000000"/>
                </a:solidFill>
              </a:rPr>
              <a:t>Лемешев Владислав Сергеевич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000000"/>
                </a:solidFill>
              </a:rPr>
              <a:t>Пушкин Владимир Александрович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>
            <a:spLocks noGrp="1"/>
          </p:cNvSpPr>
          <p:nvPr>
            <p:ph type="title"/>
          </p:nvPr>
        </p:nvSpPr>
        <p:spPr>
          <a:xfrm>
            <a:off x="311700" y="226932"/>
            <a:ext cx="8520600" cy="8476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Сегмент, сценарий и «Первая победа»</a:t>
            </a:r>
          </a:p>
        </p:txBody>
      </p:sp>
      <p:sp>
        <p:nvSpPr>
          <p:cNvPr id="71" name="Google Shape;71;p14"/>
          <p:cNvSpPr txBox="1"/>
          <p:nvPr/>
        </p:nvSpPr>
        <p:spPr>
          <a:xfrm>
            <a:off x="311700" y="1775148"/>
            <a:ext cx="8520600" cy="1692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Сегмент: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Сисадмины и Power 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Users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(от 2+ ПК).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ru-RU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Сценарий: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Необходимость быстрого выполнения рутинных команд (открыть консоль, перезагрузить сервис, запустить софт) при работе в многозадачном режиме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ru-RU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Первая победа: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Пользователь связывает 2 ПК и голосом запускает приложение на втором устройстве за &lt; 10 секунд.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>
            <a:spLocks noGrp="1"/>
          </p:cNvSpPr>
          <p:nvPr>
            <p:ph type="title"/>
          </p:nvPr>
        </p:nvSpPr>
        <p:spPr>
          <a:xfrm>
            <a:off x="311700" y="226932"/>
            <a:ext cx="8520600" cy="8476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Критические рыночные гипотезы</a:t>
            </a:r>
          </a:p>
        </p:txBody>
      </p:sp>
      <p:sp>
        <p:nvSpPr>
          <p:cNvPr id="71" name="Google Shape;71;p14"/>
          <p:cNvSpPr txBox="1"/>
          <p:nvPr/>
        </p:nvSpPr>
        <p:spPr>
          <a:xfrm>
            <a:off x="311700" y="1775148"/>
            <a:ext cx="8520600" cy="190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Гипотеза ценности: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Пользователям важнее скорость голосовой команды, чем точность ручного ввода через 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AnyDesk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(Критический риск: задержка в 4с).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ru-RU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Гипотеза барьера: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Сложность регистрации и связки устройств через 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WebSocket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является преодолимой без участия техподдержки.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ru-RU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Гипотеза канала: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Профессиональные сообщества сисадминов (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Discord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/Telegram) готовы пробовать бесплатный MVP инструмент.</a:t>
            </a:r>
          </a:p>
        </p:txBody>
      </p:sp>
    </p:spTree>
    <p:extLst>
      <p:ext uri="{BB962C8B-B14F-4D97-AF65-F5344CB8AC3E}">
        <p14:creationId xmlns:p14="http://schemas.microsoft.com/office/powerpoint/2010/main" val="1379756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>
            <a:spLocks noGrp="1"/>
          </p:cNvSpPr>
          <p:nvPr>
            <p:ph type="title"/>
          </p:nvPr>
        </p:nvSpPr>
        <p:spPr>
          <a:xfrm>
            <a:off x="311725" y="166862"/>
            <a:ext cx="8520600" cy="9410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Минимальный бизнес-прототип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3DD6DA-7B21-43C9-8533-7DA5FE74AC0A}"/>
              </a:ext>
            </a:extLst>
          </p:cNvPr>
          <p:cNvSpPr txBox="1"/>
          <p:nvPr/>
        </p:nvSpPr>
        <p:spPr>
          <a:xfrm>
            <a:off x="0" y="1903459"/>
            <a:ext cx="914399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Формат: 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Кликабельный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рабочий MVP-клиент (C#) с локальным Python-сервером.</a:t>
            </a:r>
          </a:p>
          <a:p>
            <a:pPr algn="l"/>
            <a:endParaRPr lang="ru-RU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/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Функционал: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Связка двух устройств в одну «комнату» и выполнение 5 базовых команд (браузер, громкость, музыка).</a:t>
            </a:r>
          </a:p>
          <a:p>
            <a:pPr algn="l"/>
            <a:endParaRPr lang="ru-RU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/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Целевое действие: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Успешная связка 2-х ПК и выполнение минимум 3-х команд.</a:t>
            </a:r>
          </a:p>
          <a:p>
            <a:pPr algn="l"/>
            <a:endParaRPr lang="ru-RU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/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Сбор данных: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Логирование % успешных JSON-ответов LLM и времени Time-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-Value</a:t>
            </a:r>
            <a:endParaRPr lang="ru-RU" i="0" dirty="0">
              <a:solidFill>
                <a:srgbClr val="2B2D31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311725" y="200234"/>
            <a:ext cx="8520600" cy="9544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Сообщение (</a:t>
            </a:r>
            <a:r>
              <a:rPr lang="en-US" dirty="0"/>
              <a:t>Value Proposition)</a:t>
            </a:r>
            <a:endParaRPr lang="ru-RU" dirty="0"/>
          </a:p>
        </p:txBody>
      </p:sp>
      <p:sp>
        <p:nvSpPr>
          <p:cNvPr id="83" name="Google Shape;83;p16"/>
          <p:cNvSpPr txBox="1"/>
          <p:nvPr/>
        </p:nvSpPr>
        <p:spPr>
          <a:xfrm>
            <a:off x="311700" y="1966591"/>
            <a:ext cx="8520600" cy="1692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l"/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Заголовок: «Твой голос — новый пульт управления парком ПК». 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/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/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Bullets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/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1.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Управление через микрофон без переключения окон. 2. Работает через NAT. 3. Поддержка 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кастомных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скриптов. 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 algn="l">
              <a:buAutoNum type="arabicPeriod"/>
            </a:pP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/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А/В версии: (А) Фокус на продуктивность. (Б) Фокус на «вау-эффект» и технологичность.</a:t>
            </a:r>
            <a:endParaRPr lang="ru-RU" i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11725" y="146838"/>
            <a:ext cx="8520600" cy="112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Каналы и тактика</a:t>
            </a:r>
          </a:p>
        </p:txBody>
      </p:sp>
      <p:sp>
        <p:nvSpPr>
          <p:cNvPr id="89" name="Google Shape;89;p17"/>
          <p:cNvSpPr txBox="1"/>
          <p:nvPr/>
        </p:nvSpPr>
        <p:spPr>
          <a:xfrm>
            <a:off x="311725" y="2353848"/>
            <a:ext cx="8520600" cy="104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Каналы: IT-каналы в Telegram, профильные ветки на 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Хабре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аккаунт в 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Тиктоке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Скрипт контакта: «Привет! Мы делаем голосового ассистента для сисадминов, чтобы не прыгать между RDP. Хотим дать 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потестить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закрытую бету. Интересно?»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11700" y="166861"/>
            <a:ext cx="8520600" cy="8476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Воронка привлечения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1B4A40-9E86-4BBA-B4A0-1F8BF55DF1AA}"/>
              </a:ext>
            </a:extLst>
          </p:cNvPr>
          <p:cNvSpPr txBox="1"/>
          <p:nvPr/>
        </p:nvSpPr>
        <p:spPr>
          <a:xfrm>
            <a:off x="397977" y="2397556"/>
            <a:ext cx="83480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/>
              <a:t>1. </a:t>
            </a:r>
            <a:r>
              <a:rPr lang="en-US" sz="1800" dirty="0" err="1"/>
              <a:t>Контакт</a:t>
            </a:r>
            <a:r>
              <a:rPr lang="en-US" sz="1800" dirty="0"/>
              <a:t> (Cold msg) -&gt; 2. </a:t>
            </a:r>
            <a:r>
              <a:rPr lang="en-US" sz="1800" dirty="0" err="1"/>
              <a:t>Переход</a:t>
            </a:r>
            <a:r>
              <a:rPr lang="en-US" sz="1800" dirty="0"/>
              <a:t> </a:t>
            </a:r>
            <a:r>
              <a:rPr lang="en-US" sz="1800" dirty="0" err="1"/>
              <a:t>на</a:t>
            </a:r>
            <a:r>
              <a:rPr lang="en-US" sz="1800" dirty="0"/>
              <a:t> </a:t>
            </a:r>
            <a:r>
              <a:rPr lang="en-US" sz="1800" dirty="0" err="1"/>
              <a:t>лендинг</a:t>
            </a:r>
            <a:r>
              <a:rPr lang="en-US" sz="1800" dirty="0"/>
              <a:t> -&gt; 3. </a:t>
            </a:r>
            <a:r>
              <a:rPr lang="en-US" sz="1800" dirty="0" err="1"/>
              <a:t>Установка</a:t>
            </a:r>
            <a:r>
              <a:rPr lang="en-US" sz="1800" dirty="0"/>
              <a:t> </a:t>
            </a:r>
            <a:r>
              <a:rPr lang="en-US" sz="1800" dirty="0" err="1"/>
              <a:t>клиента</a:t>
            </a:r>
            <a:r>
              <a:rPr lang="en-US" sz="1800" dirty="0"/>
              <a:t> -&gt; 4. </a:t>
            </a:r>
            <a:r>
              <a:rPr lang="en-US" sz="1800" dirty="0" err="1"/>
              <a:t>Первая</a:t>
            </a:r>
            <a:r>
              <a:rPr lang="en-US" sz="1800" dirty="0"/>
              <a:t> </a:t>
            </a:r>
            <a:r>
              <a:rPr lang="en-US" sz="1800" dirty="0" err="1"/>
              <a:t>успешная</a:t>
            </a:r>
            <a:r>
              <a:rPr lang="en-US" sz="1800" dirty="0"/>
              <a:t> </a:t>
            </a:r>
            <a:r>
              <a:rPr lang="en-US" sz="1800" dirty="0" err="1"/>
              <a:t>команда</a:t>
            </a:r>
            <a:r>
              <a:rPr lang="en-US" sz="1800" dirty="0"/>
              <a:t> -&gt; 5. </a:t>
            </a:r>
            <a:r>
              <a:rPr lang="en-US" sz="1800" dirty="0" err="1"/>
              <a:t>Повторное</a:t>
            </a:r>
            <a:r>
              <a:rPr lang="en-US" sz="1800" dirty="0"/>
              <a:t> </a:t>
            </a:r>
            <a:r>
              <a:rPr lang="en-US" sz="1800" dirty="0" err="1"/>
              <a:t>использование</a:t>
            </a:r>
            <a:r>
              <a:rPr lang="en-US" sz="1800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11700" y="166861"/>
            <a:ext cx="8520600" cy="8476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План экспериментов (на 2 недели)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95DC6D-E779-4C36-9D6A-BBE5F656A7E6}"/>
              </a:ext>
            </a:extLst>
          </p:cNvPr>
          <p:cNvSpPr txBox="1"/>
          <p:nvPr/>
        </p:nvSpPr>
        <p:spPr>
          <a:xfrm>
            <a:off x="429490" y="2332706"/>
            <a:ext cx="828502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dirty="0"/>
              <a:t>Эксперимент 1: А/В тест заголовков на </a:t>
            </a:r>
            <a:r>
              <a:rPr lang="ru-RU" dirty="0" err="1"/>
              <a:t>лендинге</a:t>
            </a:r>
            <a:r>
              <a:rPr lang="ru-RU" dirty="0"/>
              <a:t>. </a:t>
            </a:r>
          </a:p>
          <a:p>
            <a:pPr algn="l"/>
            <a:endParaRPr lang="ru-RU" dirty="0"/>
          </a:p>
          <a:p>
            <a:pPr algn="l"/>
            <a:r>
              <a:rPr lang="ru-RU" dirty="0"/>
              <a:t>Эксперимент 2: Тест на 20 контактах (</a:t>
            </a:r>
            <a:r>
              <a:rPr lang="ru-RU" dirty="0" err="1"/>
              <a:t>Reply</a:t>
            </a:r>
            <a:r>
              <a:rPr lang="ru-RU" dirty="0"/>
              <a:t> </a:t>
            </a:r>
            <a:r>
              <a:rPr lang="ru-RU" dirty="0" err="1"/>
              <a:t>rate</a:t>
            </a:r>
            <a:r>
              <a:rPr lang="ru-RU" dirty="0"/>
              <a:t>). </a:t>
            </a:r>
          </a:p>
          <a:p>
            <a:pPr algn="l"/>
            <a:endParaRPr lang="ru-RU" dirty="0"/>
          </a:p>
          <a:p>
            <a:pPr algn="l"/>
            <a:r>
              <a:rPr lang="ru-RU" dirty="0"/>
              <a:t>Эксперимент 3: Замер Time-</a:t>
            </a:r>
            <a:r>
              <a:rPr lang="ru-RU" dirty="0" err="1"/>
              <a:t>to</a:t>
            </a:r>
            <a:r>
              <a:rPr lang="ru-RU" dirty="0"/>
              <a:t>-</a:t>
            </a:r>
            <a:r>
              <a:rPr lang="ru-RU" dirty="0" err="1"/>
              <a:t>value</a:t>
            </a:r>
            <a:r>
              <a:rPr lang="ru-RU" dirty="0"/>
              <a:t> (от установки до первой команды).</a:t>
            </a:r>
            <a:endParaRPr lang="ru-RU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9617118"/>
      </p:ext>
    </p:extLst>
  </p:cSld>
  <p:clrMapOvr>
    <a:masterClrMapping/>
  </p:clrMapOvr>
</p:sld>
</file>

<file path=ppt/theme/theme1.xml><?xml version="1.0" encoding="utf-8"?>
<a:theme xmlns:a="http://schemas.openxmlformats.org/drawingml/2006/main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385</Words>
  <Application>Microsoft Office PowerPoint</Application>
  <PresentationFormat>Экран (16:9)</PresentationFormat>
  <Paragraphs>47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Merriweather</vt:lpstr>
      <vt:lpstr>Arial</vt:lpstr>
      <vt:lpstr>Roboto</vt:lpstr>
      <vt:lpstr>Paradigm</vt:lpstr>
      <vt:lpstr>Проект «Пятница»</vt:lpstr>
      <vt:lpstr>Сегмент, сценарий и «Первая победа»</vt:lpstr>
      <vt:lpstr>Критические рыночные гипотезы</vt:lpstr>
      <vt:lpstr>Минимальный бизнес-прототип</vt:lpstr>
      <vt:lpstr>Сообщение (Value Proposition)</vt:lpstr>
      <vt:lpstr>Каналы и тактика</vt:lpstr>
      <vt:lpstr>Воронка привлечения</vt:lpstr>
      <vt:lpstr>План экспериментов (на 2 недели)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 «Пятница»</dc:title>
  <cp:lastModifiedBy>Цыганов Кирилл</cp:lastModifiedBy>
  <cp:revision>30</cp:revision>
  <dcterms:modified xsi:type="dcterms:W3CDTF">2026-04-22T01:34:23Z</dcterms:modified>
</cp:coreProperties>
</file>