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55CF74-CA2E-49F4-8A12-70231197D720}">
  <a:tblStyle styleId="{BA55CF74-CA2E-49F4-8A12-70231197D7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23290" y="2154584"/>
            <a:ext cx="834541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ПРОЕКТ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«ПЯТНИЦА»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21991" y="3297584"/>
            <a:ext cx="7948017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Твой голос — новый пульт управления парком ПК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21991" y="4200525"/>
            <a:ext cx="794801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Команда 8: Цыганов, Солодкин, Валиев, Лемешев, Пушкин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3640"/>
            <a:ext cx="5286375" cy="240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3640"/>
            <a:ext cx="5286375" cy="24040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ПРОБЛЕМА: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ЛИШНИЕ ДЕЙСТВИЯ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08416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КОНТЕКСТНАЯ НАГРУЗКА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617565"/>
            <a:ext cx="45053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Управление 2+ ПК требует переключения (RDP, AnyDesk, пароли). Это сбивает фокус и замедляет работу в режиме многозадачности.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08416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СКОРОСТЬ ВВОДА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617565"/>
            <a:ext cx="45053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Ручной ввод консольных команд значительно медленнее простого голосового запроса, особенно когда руки заняты основным кодом.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5260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ЦЕЛЕВОЙ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СЕГМЕНТ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62125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6334125" y="2414736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POWER USERS И АДМИНЫ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34125" y="290051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"Я хочу выполнить скрипт на удаленном сервере, не отрывая руки от текущего кода на основном мониторе."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34125" y="4286994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ИТ-специалисты, управляющие сложной инфраструктурой с несколькими рабочими станциями одновременно.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1400" y="2228850"/>
            <a:ext cx="42291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MVP: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КАК ЭТО РАБОТАЕТ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0925" y="2238375"/>
            <a:ext cx="42100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52500" y="2381250"/>
            <a:ext cx="59626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STT: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Локальный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VOSK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обрабатывает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голос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2865090"/>
            <a:ext cx="59626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AI: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Gemini LLM генерирует JSON-команду.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3348930"/>
            <a:ext cx="59626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WebSockets</a:t>
            </a:r>
            <a:r>
              <a:rPr lang="en-US" sz="165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Доставка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через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NAT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на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удаленный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ПК.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832770"/>
            <a:ext cx="59626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Execution: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Выполнение скрипта клиентом на C#.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193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031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8703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70870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ОБЪЕМ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РЫНКА (РФ И СНГ)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302622" y="4487304"/>
            <a:ext cx="537790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Целевая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выручка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10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млн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руб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мес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при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достижении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SOM.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1021310" y="2804244"/>
            <a:ext cx="2370087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2.0M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1021310" y="3851994"/>
            <a:ext cx="2370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TAM (IT Специалисты)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937038" y="2804244"/>
            <a:ext cx="2317924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300K</a:t>
            </a:r>
            <a:endParaRPr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4905724" y="3851994"/>
            <a:ext cx="2171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SAM (Power Users)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591750" y="2804244"/>
            <a:ext cx="1964233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10K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591750" y="3851994"/>
            <a:ext cx="19642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SOM (Цель 2 года)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КОНКУРЕНТНЫЙ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АНАЛИЗ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18"/>
          <p:cNvGraphicFramePr/>
          <p:nvPr>
            <p:extLst>
              <p:ext uri="{D42A27DB-BD31-4B8C-83A1-F6EECF244321}">
                <p14:modId xmlns:p14="http://schemas.microsoft.com/office/powerpoint/2010/main" val="130911184"/>
              </p:ext>
            </p:extLst>
          </p:nvPr>
        </p:nvGraphicFramePr>
        <p:xfrm>
          <a:off x="2628453" y="2419350"/>
          <a:ext cx="6935100" cy="2952750"/>
        </p:xfrm>
        <a:graphic>
          <a:graphicData uri="http://schemas.openxmlformats.org/drawingml/2006/table">
            <a:tbl>
              <a:tblPr firstRow="1" bandRow="1">
                <a:noFill/>
                <a:tableStyleId>{BA55CF74-CA2E-49F4-8A12-70231197D720}</a:tableStyleId>
              </a:tblPr>
              <a:tblGrid>
                <a:gridCol w="146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Критерий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AnyDesk / TV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Telegram Боты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«</a:t>
                      </a:r>
                      <a:r>
                        <a:rPr lang="en-US" sz="1800" b="1" i="0" u="none" strike="noStrike" cap="none" dirty="0" err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Пятница</a:t>
                      </a:r>
                      <a:r>
                        <a:rPr lang="en-US" sz="18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»</a:t>
                      </a:r>
                      <a:endParaRPr dirty="0">
                        <a:solidFill>
                          <a:srgbClr val="DEFF9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Управление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Клавиатура/Мышь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Текст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Голос</a:t>
                      </a:r>
                      <a:endParaRPr dirty="0">
                        <a:solidFill>
                          <a:srgbClr val="DEFF9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Интерфейс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Визуальный (RDP)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Мессенджер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Hands-free</a:t>
                      </a:r>
                      <a:endParaRPr dirty="0">
                        <a:solidFill>
                          <a:srgbClr val="DEFF9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Интеллект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Отсутствует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Примитивные</a:t>
                      </a:r>
                      <a:r>
                        <a:rPr lang="en-US" sz="1200" b="0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паттерны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Gemini AI</a:t>
                      </a:r>
                      <a:endParaRPr dirty="0">
                        <a:solidFill>
                          <a:srgbClr val="DEFF9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Цена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от 2500 ₽/мес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до 1500 ₽/мес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990 ₽/</a:t>
                      </a:r>
                      <a:r>
                        <a:rPr lang="en-US" sz="1200" b="0" i="0" u="none" strike="noStrike" cap="none" dirty="0" err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мес</a:t>
                      </a:r>
                      <a:endParaRPr dirty="0">
                        <a:solidFill>
                          <a:srgbClr val="DEFF9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8" name="Google Shape;148;p18"/>
          <p:cNvSpPr/>
          <p:nvPr/>
        </p:nvSpPr>
        <p:spPr>
          <a:xfrm>
            <a:off x="2628453" y="3071812"/>
            <a:ext cx="146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089052" y="3071812"/>
            <a:ext cx="1800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889277" y="3071812"/>
            <a:ext cx="20678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957095" y="3071812"/>
            <a:ext cx="1606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2628453" y="3643312"/>
            <a:ext cx="146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089052" y="3643312"/>
            <a:ext cx="1800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889277" y="3643312"/>
            <a:ext cx="20678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957095" y="3643312"/>
            <a:ext cx="1606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628453" y="4214812"/>
            <a:ext cx="146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089052" y="4214812"/>
            <a:ext cx="1800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889277" y="4214812"/>
            <a:ext cx="20678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957095" y="4214812"/>
            <a:ext cx="1606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628453" y="4786312"/>
            <a:ext cx="146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089052" y="4786312"/>
            <a:ext cx="1800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889277" y="4786312"/>
            <a:ext cx="20678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957095" y="4786312"/>
            <a:ext cx="1606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628453" y="5357812"/>
            <a:ext cx="146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089052" y="5357812"/>
            <a:ext cx="1800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889277" y="5357812"/>
            <a:ext cx="20678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957095" y="5357812"/>
            <a:ext cx="1606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БИЗНЕС-МОДЕЛЬ: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SAAS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296510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ТАРИФ PRO: 990 ₽/МЕС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715125" y="3374677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Валовая маржа: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85%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15125" y="3858517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COGS: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~150 ₽ (API/Сервер)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15125" y="4342358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LTV/CAC: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прогноз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&gt; 3.0</a:t>
            </a:r>
            <a:endParaRPr dirty="0"/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34127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966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3804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C7D22E-0FAB-46EC-A089-79C409E9F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080" y="1810356"/>
            <a:ext cx="4448796" cy="4096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04144"/>
            <a:ext cx="3492549" cy="338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204144"/>
            <a:ext cx="3492549" cy="338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204144"/>
            <a:ext cx="3492549" cy="338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СТРАТЕГИЯ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РОСТА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66775" y="314711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IT СООБЩЕСТВА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66775" y="3632894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Запуск рекламы в профильных Telegram-каналах (30k+ подписчиков) с фокусом на продуктивность.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645074" y="3147119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ПАРТИЗАНСКИЙ МАРКЕТИНГ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645074" y="390911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Прямые предложения аудитории конкурентов с оффером "Скидка при переходе".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423374" y="314711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A/B ТЕСТИРОВАНИЕ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423374" y="3632894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Оптимизация лендингов и конверсии в установку через итерации офферов.</a:t>
            </a:r>
            <a:endParaRPr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527994"/>
            <a:ext cx="3714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5074" y="252799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374" y="252799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666107"/>
            <a:ext cx="5286375" cy="24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ВАЛИДАЦИЯ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И ИНСАЙТЫ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629400" y="2961382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ГЛАВНЫЙ ИНСАЙТ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29400" y="3447157"/>
            <a:ext cx="4695825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Ценность кросс-девайсного управления подтверждена. Критическая зона роста — упрощение UX процесса регистрации и связки устройств.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52500" y="2818507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Проведено 5 глубинных интервью с сисадминами.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52500" y="3302347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 из 5 успешно развернули MVP и выполнили команды.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952500" y="4079527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Подтвержден "Вау-эффект" от голосового управления.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66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404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17627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ФИНАНСОВЫЙ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ПЛАН (12 МЕС)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5577780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MRR: 990 000 ₽</a:t>
            </a:r>
            <a:endParaRPr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6334125" y="5577780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Users: 1 000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чел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49822"/>
            <a:ext cx="3492549" cy="349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49822"/>
            <a:ext cx="3492549" cy="349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49822"/>
            <a:ext cx="3492549" cy="349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3325" y="2445097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81625" y="2445097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59924" y="2445097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НАША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КОМАНДА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94225" y="406434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РАЗРАБОТКА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66775" y="4550122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Цыганов, Солодкин, Валиев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C#, Python, WebSocket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4572524" y="406434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 &amp; LLM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645074" y="4550122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Лемешев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Prompt-engineering &amp; Integration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350824" y="406434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МАРКЕТИНГ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423374" y="4550122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Пушкин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BizDev &amp; Growth Strategy</a:t>
            </a:r>
            <a:endParaRPr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2850" y="2454622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91150" y="2454622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69449" y="2454622"/>
            <a:ext cx="14097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ИНВЕСТИЦИОННОЕ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ПРЕДЛОЖЕНИЕ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3816250" y="2178397"/>
            <a:ext cx="478747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2.5 МЛН ₽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2650926" y="5110162"/>
            <a:ext cx="689014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Цель 6 мес: 500 платящих пользователей и выход на окупаемость.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394052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2133600" y="40729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488632" y="3702397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40%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4131022"/>
            <a:ext cx="3314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Маркетинг и привлечение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6000750" y="40729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4355782" y="3702397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40%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438650" y="4131022"/>
            <a:ext cx="3314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Команда и разработка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9867900" y="40729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8222932" y="3702397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20%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8305800" y="4131022"/>
            <a:ext cx="3314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Инфраструктура и API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Широкоэкранный</PresentationFormat>
  <Paragraphs>83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Urbanist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Цыганов Кирилл</cp:lastModifiedBy>
  <cp:revision>1</cp:revision>
  <dcterms:modified xsi:type="dcterms:W3CDTF">2026-05-05T23:12:27Z</dcterms:modified>
</cp:coreProperties>
</file>