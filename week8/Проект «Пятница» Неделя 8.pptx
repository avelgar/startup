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FDDDBA3-C5F4-43C3-B651-14DBBCDF7A40}">
          <p14:sldIdLst>
            <p14:sldId id="256"/>
            <p14:sldId id="257"/>
            <p14:sldId id="258"/>
            <p14:sldId id="259"/>
            <p14:sldId id="260"/>
            <p14:sldId id="261"/>
            <p14:sldId id="264"/>
            <p14:sldId id="262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C9D326-0DCF-41F5-9821-14E17F61AB07}">
  <a:tblStyle styleId="{BFC9D326-0DCF-41F5-9821-14E17F61AB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4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1a0ab2c3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1a0ab2c3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1a0ab2c3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1a0ab2c3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1a0ab2c3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1a0ab2c3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1a0ab2c3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1a0ab2c3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a0ab2c3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a0ab2c3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a0ab2c3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a0ab2c3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418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a0ab2c3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a0ab2c3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a0ab2c3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a0ab2c3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578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a0ab2c3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a0ab2c3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70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 «Пятница»</a:t>
            </a:r>
            <a:endParaRPr dirty="0"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508497"/>
            <a:ext cx="4242600" cy="27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Неделя 8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Команда 8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Цыганов Кирилл Андреевич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Солодкин Максим Дмитриевич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Валиев Артур Амирович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Лемешев Владислав Сергеевич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Пушкин Владимир Александрович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226932"/>
            <a:ext cx="8520600" cy="847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Проблема и </a:t>
            </a:r>
            <a:r>
              <a:rPr lang="en-US" dirty="0"/>
              <a:t>User Story</a:t>
            </a:r>
            <a:endParaRPr lang="ru-RU" dirty="0"/>
          </a:p>
        </p:txBody>
      </p:sp>
      <p:sp>
        <p:nvSpPr>
          <p:cNvPr id="71" name="Google Shape;71;p14"/>
          <p:cNvSpPr txBox="1"/>
          <p:nvPr/>
        </p:nvSpPr>
        <p:spPr>
          <a:xfrm>
            <a:off x="311700" y="2333201"/>
            <a:ext cx="85206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Тезис: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Управление несколькими компьютерами одновременно требует сложных сетевых настроек или ручного переключения.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 Story: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«Как владелец двух и более ПК, я хочу произнести команду на одном устройстве, чтобы она выполнилась на другом через интернет без лишних манипуляций».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Контекст: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Фрагментация управления домашней и рабочей инфраструктурой.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166862"/>
            <a:ext cx="8520600" cy="941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Решение — Голосовой ассистент «Пятница»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DD6DA-7B21-43C9-8533-7DA5FE74AC0A}"/>
              </a:ext>
            </a:extLst>
          </p:cNvPr>
          <p:cNvSpPr txBox="1"/>
          <p:nvPr/>
        </p:nvSpPr>
        <p:spPr>
          <a:xfrm>
            <a:off x="1" y="2387553"/>
            <a:ext cx="91439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Концепция: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Клиент-серверная архитектура с LLM-маршрутизацией запросов.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Ключевая фишка: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Понимание естественного языка («Закрой Хром на домашнем ПК») и автоматический поиск нужного устройства в сети.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Приватность: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Локальный перевод голоса в текст (STT) на стороне клиента.</a:t>
            </a:r>
            <a:endParaRPr lang="ru-RU" b="0" i="0" dirty="0">
              <a:solidFill>
                <a:srgbClr val="2B2D3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25" y="200234"/>
            <a:ext cx="8520600" cy="954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Технологический стек </a:t>
            </a:r>
            <a:r>
              <a:rPr lang="en-US" dirty="0"/>
              <a:t>MVP</a:t>
            </a:r>
            <a:endParaRPr lang="ru-RU" dirty="0"/>
          </a:p>
        </p:txBody>
      </p:sp>
      <p:sp>
        <p:nvSpPr>
          <p:cNvPr id="83" name="Google Shape;83;p16"/>
          <p:cNvSpPr txBox="1"/>
          <p:nvPr/>
        </p:nvSpPr>
        <p:spPr>
          <a:xfrm>
            <a:off x="311700" y="1966591"/>
            <a:ext cx="85206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Клиент: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C# приложение с интеграцией VOSK (STT) и Windows API для исполнения команд.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Бэкенд: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Python-сервер, управляющий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-комнатами пользователей.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ИИ-ядро: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Gemini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Flash с системным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промптом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генерации строгого JSON.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Безопасность: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Передача данных по протоколу WSS (TLS шифрование)</a:t>
            </a:r>
            <a:endParaRPr lang="ru-RU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25" y="146838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Рынок и потенциал</a:t>
            </a:r>
          </a:p>
        </p:txBody>
      </p:sp>
      <p:sp>
        <p:nvSpPr>
          <p:cNvPr id="89" name="Google Shape;89;p17"/>
          <p:cNvSpPr txBox="1"/>
          <p:nvPr/>
        </p:nvSpPr>
        <p:spPr>
          <a:xfrm>
            <a:off x="311725" y="2292256"/>
            <a:ext cx="85206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Целевая аудитория: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Power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users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системные администраторы и энтузиасты умного дома.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SAM/SOM: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Пользователи Windows-систем, нуждающиеся в кросс-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девайсном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управлении.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Тренды: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Рост популярности локальных AI-ассистентов и автоматизации «без рук».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66861"/>
            <a:ext cx="8520600" cy="847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Основной сценарий (</a:t>
            </a:r>
            <a:r>
              <a:rPr lang="en-US" dirty="0"/>
              <a:t>E2E </a:t>
            </a:r>
            <a:r>
              <a:rPr lang="ru-RU" dirty="0"/>
              <a:t>путь)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5DC6D-E779-4C36-9D6A-BBE5F656A7E6}"/>
              </a:ext>
            </a:extLst>
          </p:cNvPr>
          <p:cNvSpPr txBox="1"/>
          <p:nvPr/>
        </p:nvSpPr>
        <p:spPr>
          <a:xfrm>
            <a:off x="429490" y="1972632"/>
            <a:ext cx="82850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-RU" b="1" dirty="0"/>
              <a:t>Триггер:</a:t>
            </a:r>
            <a:r>
              <a:rPr lang="ru-RU" dirty="0"/>
              <a:t> Голосовая команда в микрофон.</a:t>
            </a:r>
          </a:p>
          <a:p>
            <a:pPr marL="342900" indent="-3429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+mj-lt"/>
              <a:buAutoNum type="arabicPeriod"/>
            </a:pPr>
            <a:r>
              <a:rPr lang="ru-RU" b="1" dirty="0"/>
              <a:t>STT:</a:t>
            </a:r>
            <a:r>
              <a:rPr lang="ru-RU" dirty="0"/>
              <a:t> Локальный перевод в текст</a:t>
            </a:r>
            <a:r>
              <a:rPr lang="en-US" dirty="0"/>
              <a:t>.</a:t>
            </a:r>
            <a:endParaRPr lang="ru-RU" dirty="0"/>
          </a:p>
          <a:p>
            <a:pPr marL="342900" indent="-3429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+mj-lt"/>
              <a:buAutoNum type="arabicPeriod"/>
            </a:pPr>
            <a:r>
              <a:rPr lang="ru-RU" b="1" dirty="0"/>
              <a:t>LLM:</a:t>
            </a:r>
            <a:r>
              <a:rPr lang="ru-RU" dirty="0"/>
              <a:t> </a:t>
            </a:r>
            <a:r>
              <a:rPr lang="ru-RU" dirty="0" err="1"/>
              <a:t>Gemini</a:t>
            </a:r>
            <a:r>
              <a:rPr lang="ru-RU" dirty="0"/>
              <a:t> формирует JSON (цель, действие, аргументы).</a:t>
            </a:r>
          </a:p>
          <a:p>
            <a:pPr marL="342900" indent="-342900" algn="l">
              <a:buFont typeface="+mj-lt"/>
              <a:buAutoNum type="arabicPeriod"/>
            </a:pPr>
            <a:endParaRPr lang="en-US" dirty="0"/>
          </a:p>
          <a:p>
            <a:pPr marL="342900" indent="-342900" algn="l">
              <a:buFont typeface="+mj-lt"/>
              <a:buAutoNum type="arabicPeriod"/>
            </a:pPr>
            <a:r>
              <a:rPr lang="ru-RU" b="1" dirty="0" err="1"/>
              <a:t>WebSocket</a:t>
            </a:r>
            <a:r>
              <a:rPr lang="ru-RU" b="1" dirty="0"/>
              <a:t>:</a:t>
            </a:r>
            <a:r>
              <a:rPr lang="ru-RU" dirty="0"/>
              <a:t> Команда на удаленный ПК.</a:t>
            </a:r>
          </a:p>
          <a:p>
            <a:pPr marL="342900" indent="-342900" algn="l">
              <a:buFont typeface="+mj-lt"/>
              <a:buAutoNum type="arabicPeriod"/>
            </a:pPr>
            <a:endParaRPr lang="ru-RU" dirty="0"/>
          </a:p>
          <a:p>
            <a:pPr marL="342900" indent="-342900" algn="l">
              <a:buFont typeface="+mj-lt"/>
              <a:buAutoNum type="arabicPeriod"/>
            </a:pPr>
            <a:r>
              <a:rPr lang="ru-RU" b="1" dirty="0" err="1"/>
              <a:t>Execution</a:t>
            </a:r>
            <a:r>
              <a:rPr lang="ru-RU" b="1" dirty="0"/>
              <a:t>:</a:t>
            </a:r>
            <a:r>
              <a:rPr lang="ru-RU" dirty="0"/>
              <a:t> Выполнение команды через Windows API</a:t>
            </a:r>
            <a:endParaRPr lang="ru-RU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66861"/>
            <a:ext cx="8520600" cy="847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Валидация и Метрики </a:t>
            </a:r>
            <a:r>
              <a:rPr lang="en-US" dirty="0"/>
              <a:t>MVP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5DC6D-E779-4C36-9D6A-BBE5F656A7E6}"/>
              </a:ext>
            </a:extLst>
          </p:cNvPr>
          <p:cNvSpPr txBox="1"/>
          <p:nvPr/>
        </p:nvSpPr>
        <p:spPr>
          <a:xfrm>
            <a:off x="429490" y="2271114"/>
            <a:ext cx="82850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/>
              <a:t>Скорость:</a:t>
            </a:r>
            <a:r>
              <a:rPr lang="ru-RU" dirty="0"/>
              <a:t> Полный цикл «голос-выполнение» занимает 3-4 секунды (с учетом задержек ИИ).</a:t>
            </a:r>
          </a:p>
          <a:p>
            <a:pPr algn="l"/>
            <a:endParaRPr lang="ru-RU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/>
              <a:t>Надежность:</a:t>
            </a:r>
            <a:r>
              <a:rPr lang="ru-RU" dirty="0"/>
              <a:t> Реализован механизм </a:t>
            </a:r>
            <a:r>
              <a:rPr lang="ru-RU" dirty="0" err="1"/>
              <a:t>auto-reconnect</a:t>
            </a:r>
            <a:r>
              <a:rPr lang="ru-RU" dirty="0"/>
              <a:t> для </a:t>
            </a:r>
            <a:r>
              <a:rPr lang="ru-RU" dirty="0" err="1"/>
              <a:t>WebSocket</a:t>
            </a:r>
            <a:r>
              <a:rPr lang="ru-RU" dirty="0"/>
              <a:t>-соединений.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ru-RU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/>
              <a:t>Точность:</a:t>
            </a:r>
            <a:r>
              <a:rPr lang="ru-RU" dirty="0"/>
              <a:t> Использование «белого списка» команд для предотвращения галлюцинаций ИИ.</a:t>
            </a:r>
            <a:endParaRPr lang="ru-RU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617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162506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Бизнес-модель и оптимизация</a:t>
            </a:r>
            <a:endParaRPr dirty="0"/>
          </a:p>
        </p:txBody>
      </p:sp>
      <p:sp>
        <p:nvSpPr>
          <p:cNvPr id="101" name="Google Shape;101;p19"/>
          <p:cNvSpPr txBox="1"/>
          <p:nvPr/>
        </p:nvSpPr>
        <p:spPr>
          <a:xfrm>
            <a:off x="311700" y="2273823"/>
            <a:ext cx="85206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b="1" dirty="0"/>
              <a:t>Монетизация:</a:t>
            </a:r>
            <a:r>
              <a:rPr lang="ru-RU" dirty="0"/>
              <a:t> </a:t>
            </a:r>
            <a:r>
              <a:rPr lang="ru-RU" dirty="0" err="1"/>
              <a:t>Freemium</a:t>
            </a:r>
            <a:r>
              <a:rPr lang="ru-RU" dirty="0"/>
              <a:t> (базовые команды — бесплатно, сложные сценарии — подписка).</a:t>
            </a:r>
          </a:p>
          <a:p>
            <a:pPr algn="l"/>
            <a:endParaRPr lang="ru-RU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/>
              <a:t>Экономика токенов:</a:t>
            </a:r>
            <a:r>
              <a:rPr lang="ru-RU" dirty="0"/>
              <a:t> Кэширование повторяющихся команд на сервере и использование модели </a:t>
            </a:r>
            <a:r>
              <a:rPr lang="ru-RU" dirty="0" err="1"/>
              <a:t>Gemini</a:t>
            </a:r>
            <a:r>
              <a:rPr lang="ru-RU" dirty="0"/>
              <a:t> Flash для снижения затрат.</a:t>
            </a:r>
          </a:p>
          <a:p>
            <a:pPr algn="l"/>
            <a:endParaRPr lang="ru-RU" dirty="0"/>
          </a:p>
          <a:p>
            <a:pPr algn="l"/>
            <a:r>
              <a:rPr lang="ru-RU" b="1" dirty="0"/>
              <a:t>Масштабирование:</a:t>
            </a:r>
            <a:r>
              <a:rPr lang="ru-RU" dirty="0"/>
              <a:t> STT на клиенте снимает нагрузку по обработке аудио с нашего сервера.</a:t>
            </a:r>
            <a:endParaRPr lang="ru-RU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162506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Риски и их минимизация</a:t>
            </a:r>
          </a:p>
        </p:txBody>
      </p:sp>
      <p:sp>
        <p:nvSpPr>
          <p:cNvPr id="101" name="Google Shape;101;p19"/>
          <p:cNvSpPr txBox="1"/>
          <p:nvPr/>
        </p:nvSpPr>
        <p:spPr>
          <a:xfrm>
            <a:off x="311725" y="2079572"/>
            <a:ext cx="85206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b="1" dirty="0"/>
              <a:t>Сетевые задержки:</a:t>
            </a:r>
            <a:r>
              <a:rPr lang="ru-RU" dirty="0"/>
              <a:t> Оптимизация </a:t>
            </a:r>
            <a:r>
              <a:rPr lang="ru-RU" dirty="0" err="1"/>
              <a:t>промпта</a:t>
            </a:r>
            <a:r>
              <a:rPr lang="ru-RU" dirty="0"/>
              <a:t> (только JSON) и выбор быстрых моделей.</a:t>
            </a:r>
            <a:endParaRPr lang="en-US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/>
              <a:t>Безопасность ИИ:</a:t>
            </a:r>
            <a:r>
              <a:rPr lang="ru-RU" dirty="0"/>
              <a:t> Ограничение пула доступных действий для исключения критических ошибок (удаление файлов и т.д.).</a:t>
            </a:r>
            <a:endParaRPr lang="ru-RU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361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162506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Планы развития</a:t>
            </a:r>
          </a:p>
        </p:txBody>
      </p:sp>
      <p:sp>
        <p:nvSpPr>
          <p:cNvPr id="101" name="Google Shape;101;p19"/>
          <p:cNvSpPr txBox="1"/>
          <p:nvPr/>
        </p:nvSpPr>
        <p:spPr>
          <a:xfrm>
            <a:off x="311700" y="2122212"/>
            <a:ext cx="85206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b="1" dirty="0"/>
              <a:t>Ближайшее:</a:t>
            </a:r>
            <a:r>
              <a:rPr lang="ru-RU" dirty="0"/>
              <a:t> Оптимизация скорости ответов, дизайна</a:t>
            </a:r>
          </a:p>
          <a:p>
            <a:pPr algn="l"/>
            <a:endParaRPr lang="en-US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/>
              <a:t>Перспектива:</a:t>
            </a:r>
            <a:r>
              <a:rPr lang="ru-RU" dirty="0"/>
              <a:t> Сложные составные команды путём добавления второго ИИ-планировщика.(«напиши код и запусти его»).</a:t>
            </a:r>
          </a:p>
          <a:p>
            <a:pPr algn="l"/>
            <a:endParaRPr lang="ru-RU" dirty="0"/>
          </a:p>
          <a:p>
            <a:pPr algn="l"/>
            <a:r>
              <a:rPr lang="ru-RU" b="1" dirty="0"/>
              <a:t>Техническое:</a:t>
            </a:r>
            <a:r>
              <a:rPr lang="ru-RU" dirty="0"/>
              <a:t> Переход на полностью локальные LLM при наличии мощностей у пользователя.</a:t>
            </a:r>
            <a:endParaRPr lang="ru-RU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49211"/>
      </p:ext>
    </p:extLst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432</Words>
  <Application>Microsoft Office PowerPoint</Application>
  <PresentationFormat>Экран (16:9)</PresentationFormat>
  <Paragraphs>66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Roboto</vt:lpstr>
      <vt:lpstr>Merriweather</vt:lpstr>
      <vt:lpstr>Arial</vt:lpstr>
      <vt:lpstr>Paradigm</vt:lpstr>
      <vt:lpstr>Проект «Пятница»</vt:lpstr>
      <vt:lpstr>Проблема и User Story</vt:lpstr>
      <vt:lpstr>Решение — Голосовой ассистент «Пятница»</vt:lpstr>
      <vt:lpstr>Технологический стек MVP</vt:lpstr>
      <vt:lpstr>Рынок и потенциал</vt:lpstr>
      <vt:lpstr>Основной сценарий (E2E путь)</vt:lpstr>
      <vt:lpstr>Валидация и Метрики MVP</vt:lpstr>
      <vt:lpstr>Бизнес-модель и оптимизация</vt:lpstr>
      <vt:lpstr>Риски и их минимизация</vt:lpstr>
      <vt:lpstr>Планы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«Пятница»</dc:title>
  <cp:lastModifiedBy>Цыганов Кирилл</cp:lastModifiedBy>
  <cp:revision>14</cp:revision>
  <dcterms:modified xsi:type="dcterms:W3CDTF">2026-03-29T21:33:28Z</dcterms:modified>
</cp:coreProperties>
</file>