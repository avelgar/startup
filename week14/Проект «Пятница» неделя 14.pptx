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83E6F6-2E1F-4A27-B2F2-488033CFFDC7}">
  <a:tblStyle styleId="{5083E6F6-2E1F-4A27-B2F2-488033CFFDC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967162"/>
            <a:ext cx="35495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3967162"/>
            <a:ext cx="3549699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3967162"/>
            <a:ext cx="35495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862512"/>
            <a:ext cx="35495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4862512"/>
            <a:ext cx="3549699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81025" y="1290637"/>
            <a:ext cx="11029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КОМАНДА 8 ПРЕДСТАВЛЯЕТ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81025" y="2595562"/>
            <a:ext cx="7620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Голосовой ассистент на базе Gemini LLM для бесшовного управления парком ПК без RDP и AnyDesk.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33425" y="4119562"/>
            <a:ext cx="32447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PRODUCT MANAGER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33425" y="4329112"/>
            <a:ext cx="124568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Валиев</a:t>
            </a:r>
            <a:r>
              <a:rPr lang="en-US" sz="12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Артур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473475" y="4119562"/>
            <a:ext cx="324489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BACKEND DEV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473474" y="4329112"/>
            <a:ext cx="14573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Цыганов Кирилл</a:t>
            </a:r>
            <a:endParaRPr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8213675" y="4119562"/>
            <a:ext cx="32447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FRONTEND DEV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8213675" y="4329112"/>
            <a:ext cx="1800884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Солодкин</a:t>
            </a:r>
            <a:r>
              <a:rPr lang="en-US" sz="12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Максим</a:t>
            </a:r>
            <a:endParaRPr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733425" y="5014912"/>
            <a:ext cx="32447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MARKETING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733424" y="5224462"/>
            <a:ext cx="175442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Лемешев</a:t>
            </a:r>
            <a:r>
              <a:rPr lang="en-US" sz="12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Владислав</a:t>
            </a:r>
            <a:endParaRPr dirty="0"/>
          </a:p>
        </p:txBody>
      </p:sp>
      <p:sp>
        <p:nvSpPr>
          <p:cNvPr id="100" name="Google Shape;100;p13"/>
          <p:cNvSpPr txBox="1"/>
          <p:nvPr/>
        </p:nvSpPr>
        <p:spPr>
          <a:xfrm>
            <a:off x="4473475" y="5014912"/>
            <a:ext cx="324489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QA ENGINEER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4473475" y="5224462"/>
            <a:ext cx="156407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Пушкин</a:t>
            </a:r>
            <a:r>
              <a:rPr lang="en-US" sz="12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Владимир</a:t>
            </a:r>
            <a:endParaRPr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581025" y="1481137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Проект «Пятница»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1009650" y="2447925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Стек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Клиент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C#,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сервер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Python,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маршрутизация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WebSocket.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1009650" y="316230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Интегрирован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локальный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STT (VOSK) и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облачный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Gemini LLM.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1009650" y="3876675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Тесты: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Проведено 5 глубинных интервью с сисадминами.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009650" y="459105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Инсайт: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Подтвержден "wow-эффект", но выявлен барьер в UX регистрации устройств.</a:t>
            </a:r>
            <a:endParaRPr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907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051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9195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63391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Текущая стадия проекта: MVP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71737"/>
            <a:ext cx="3486150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471737"/>
            <a:ext cx="3486150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471737"/>
            <a:ext cx="3486150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876300" y="3843337"/>
            <a:ext cx="289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Релиз v1.0, удобный онбординг.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76300" y="4542837"/>
            <a:ext cx="289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Цель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100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платящих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юзеров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MRR ~99к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руб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4648200" y="3843337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Операционная окупаемость.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4648200" y="4246322"/>
            <a:ext cx="289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Цель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500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активных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подписок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8420100" y="3843337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Запуск B2B направления.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420100" y="4202906"/>
            <a:ext cx="289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Цель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10+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корпоративных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контрактов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8051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8051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80511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Стратегические цели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876300" y="34242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0–3 месяца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4648200" y="34242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3–6 месяцев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420100" y="34242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6–12 месяцев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76375"/>
            <a:ext cx="1102995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581025" y="2847975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Этот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показатель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отражает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реальную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экономию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времени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пользователя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North Star Metric и Воронка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305276" y="2476500"/>
            <a:ext cx="1158144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NSM: </a:t>
            </a:r>
            <a:r>
              <a:rPr lang="en-US" sz="2400" b="1" i="0" u="none" strike="noStrike" cap="none" dirty="0" err="1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Успешные</a:t>
            </a:r>
            <a:r>
              <a:rPr lang="en-US" sz="2400" b="1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команды</a:t>
            </a:r>
            <a:r>
              <a:rPr lang="en-US" sz="2400" b="1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lang="en-US" sz="2400" b="1" i="0" u="none" strike="noStrike" cap="none" dirty="0" err="1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неделя</a:t>
            </a:r>
            <a:r>
              <a:rPr lang="en-US" sz="2400" b="1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lang="en-US" sz="2400" b="1" i="0" u="none" strike="noStrike" cap="none" dirty="0" err="1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юзер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17"/>
          <p:cNvGraphicFramePr/>
          <p:nvPr>
            <p:extLst>
              <p:ext uri="{D42A27DB-BD31-4B8C-83A1-F6EECF244321}">
                <p14:modId xmlns:p14="http://schemas.microsoft.com/office/powerpoint/2010/main" val="3623568036"/>
              </p:ext>
            </p:extLst>
          </p:nvPr>
        </p:nvGraphicFramePr>
        <p:xfrm>
          <a:off x="581025" y="2633662"/>
          <a:ext cx="11029950" cy="2486000"/>
        </p:xfrm>
        <a:graphic>
          <a:graphicData uri="http://schemas.openxmlformats.org/drawingml/2006/table">
            <a:tbl>
              <a:tblPr firstRow="1" bandRow="1">
                <a:noFill/>
                <a:tableStyleId>{5083E6F6-2E1F-4A27-B2F2-488033CFFDC7}</a:tableStyleId>
              </a:tblPr>
              <a:tblGrid>
                <a:gridCol w="219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Направление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Ключевые инициативы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Продукт</a:t>
                      </a:r>
                      <a:r>
                        <a:rPr lang="en-US" sz="1350" b="1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и UX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Редизайн регистрации, Видео-гайд онбординга, Маркетплейс скриптов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Разработка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Win API (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вкладки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),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Кэширование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LLM,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Интеграция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ЮKassa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Маркетинг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Парсинг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чатов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A/B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тест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лендинга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Акция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"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Миграция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Аналитика / QA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Настройка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Amplitude,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Автотесты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WebSockets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8" name="Google Shape;158;p17"/>
          <p:cNvSpPr/>
          <p:nvPr/>
        </p:nvSpPr>
        <p:spPr>
          <a:xfrm>
            <a:off x="581025" y="3109912"/>
            <a:ext cx="2198042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2779067" y="3109912"/>
            <a:ext cx="8831907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81025" y="3619500"/>
            <a:ext cx="21980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2779067" y="3619500"/>
            <a:ext cx="88319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81025" y="4114800"/>
            <a:ext cx="21980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779067" y="4114800"/>
            <a:ext cx="88319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81025" y="4610100"/>
            <a:ext cx="21980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779067" y="4610100"/>
            <a:ext cx="88319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81025" y="5105400"/>
            <a:ext cx="21980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2779067" y="5105400"/>
            <a:ext cx="88319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Backlog по направлениям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18"/>
          <p:cNvGraphicFramePr/>
          <p:nvPr>
            <p:extLst>
              <p:ext uri="{D42A27DB-BD31-4B8C-83A1-F6EECF244321}">
                <p14:modId xmlns:p14="http://schemas.microsoft.com/office/powerpoint/2010/main" val="940398267"/>
              </p:ext>
            </p:extLst>
          </p:nvPr>
        </p:nvGraphicFramePr>
        <p:xfrm>
          <a:off x="581025" y="2633662"/>
          <a:ext cx="11029925" cy="2486000"/>
        </p:xfrm>
        <a:graphic>
          <a:graphicData uri="http://schemas.openxmlformats.org/drawingml/2006/table">
            <a:tbl>
              <a:tblPr firstRow="1" bandRow="1">
                <a:noFill/>
                <a:tableStyleId>{5083E6F6-2E1F-4A27-B2F2-488033CFFDC7}</a:tableStyleId>
              </a:tblPr>
              <a:tblGrid>
                <a:gridCol w="359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7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9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Инициатива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Effort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Решение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Редизайн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регистрации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Спринт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Интеграция биллинга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Спринт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Реклама в Telegram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Спринт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Маркетплейс скриптов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2.25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Backlog (3-6м)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6" name="Google Shape;176;p18"/>
          <p:cNvSpPr/>
          <p:nvPr/>
        </p:nvSpPr>
        <p:spPr>
          <a:xfrm>
            <a:off x="581025" y="3109912"/>
            <a:ext cx="3590329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4171354" y="3109912"/>
            <a:ext cx="1369218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540573" y="3109912"/>
            <a:ext cx="1171426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6711999" y="3109912"/>
            <a:ext cx="1201787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7913786" y="3109912"/>
            <a:ext cx="1247477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9161264" y="3109912"/>
            <a:ext cx="244971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581025" y="3619500"/>
            <a:ext cx="35903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171354" y="3619500"/>
            <a:ext cx="13692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5540573" y="3619500"/>
            <a:ext cx="11714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6711999" y="3619500"/>
            <a:ext cx="12017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7913786" y="3619500"/>
            <a:ext cx="12474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9161264" y="3619500"/>
            <a:ext cx="24497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581025" y="4114800"/>
            <a:ext cx="35903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4171354" y="4114800"/>
            <a:ext cx="13692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5540573" y="4114800"/>
            <a:ext cx="11714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711999" y="4114800"/>
            <a:ext cx="12017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7913786" y="4114800"/>
            <a:ext cx="12474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9161264" y="4114800"/>
            <a:ext cx="24497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581025" y="4610100"/>
            <a:ext cx="35903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4171354" y="4610100"/>
            <a:ext cx="13692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5540573" y="4610100"/>
            <a:ext cx="11714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711999" y="4610100"/>
            <a:ext cx="12017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7913786" y="4610100"/>
            <a:ext cx="12474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9161264" y="4610100"/>
            <a:ext cx="24497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581025" y="5105400"/>
            <a:ext cx="35903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4171354" y="5105400"/>
            <a:ext cx="13692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5540573" y="5105400"/>
            <a:ext cx="11714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6711999" y="5105400"/>
            <a:ext cx="12017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7913786" y="5105400"/>
            <a:ext cx="12474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9161264" y="5105400"/>
            <a:ext cx="24497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Приоритизация (ICE Score)</a:t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48787"/>
            <a:ext cx="2426493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8794" y="2548787"/>
            <a:ext cx="2426493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6563" y="2548787"/>
            <a:ext cx="2426493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4332" y="2548787"/>
            <a:ext cx="2426493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/>
          <p:nvPr/>
        </p:nvSpPr>
        <p:spPr>
          <a:xfrm>
            <a:off x="581025" y="3482237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781050" y="3072662"/>
            <a:ext cx="2026443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 1.0: Активация. Редизайн UI, Win API, Аналитика.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3648819" y="3072662"/>
            <a:ext cx="20264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 1.1: Оплата. Биллинг, старт маркетинга (50 оплат).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9384357" y="3072662"/>
            <a:ext cx="2026443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 1.5: Удержание. Скрипты, Churn &lt; 10%.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Roadmap на 3–6 месяцев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781050" y="2748812"/>
            <a:ext cx="212776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Месяц</a:t>
            </a:r>
            <a:r>
              <a:rPr lang="en-US" sz="1500" b="1" i="0" u="none" strike="noStrike" cap="none" dirty="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 1</a:t>
            </a:r>
            <a:endParaRPr dirty="0"/>
          </a:p>
        </p:txBody>
      </p:sp>
      <p:sp>
        <p:nvSpPr>
          <p:cNvPr id="227" name="Google Shape;227;p19"/>
          <p:cNvSpPr txBox="1"/>
          <p:nvPr/>
        </p:nvSpPr>
        <p:spPr>
          <a:xfrm>
            <a:off x="3648819" y="2748812"/>
            <a:ext cx="212776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Месяц 2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6516588" y="2748812"/>
            <a:ext cx="212776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Месяц 3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516588" y="3072662"/>
            <a:ext cx="212776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v 1.2: </a:t>
            </a:r>
            <a:r>
              <a:rPr lang="en-US" sz="1500" b="1" i="0" u="none" strike="noStrike" cap="none" dirty="0" err="1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Рост</a:t>
            </a:r>
            <a:r>
              <a:rPr lang="en-US" sz="1500" b="1" i="0" u="none" strike="noStrike" cap="none" dirty="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500" b="1" i="0" u="none" strike="noStrike" cap="none" dirty="0" err="1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Блогеры</a:t>
            </a:r>
            <a:r>
              <a:rPr lang="en-US" sz="1500" b="1" i="0" u="none" strike="noStrike" cap="none" dirty="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, A/B </a:t>
            </a:r>
            <a:r>
              <a:rPr lang="en-US" sz="1500" b="1" i="0" u="none" strike="noStrike" cap="none" dirty="0" err="1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тесты</a:t>
            </a:r>
            <a:r>
              <a:rPr lang="en-US" sz="1500" b="1" i="0" u="none" strike="noStrike" cap="none" dirty="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 (100+ </a:t>
            </a:r>
            <a:r>
              <a:rPr lang="en-US" sz="1500" b="1" i="0" u="none" strike="noStrike" cap="none" dirty="0" err="1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юзеров</a:t>
            </a:r>
            <a:r>
              <a:rPr lang="en-US" sz="1500" b="1" i="0" u="none" strike="noStrike" cap="none" dirty="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230" name="Google Shape;230;p19"/>
          <p:cNvSpPr txBox="1"/>
          <p:nvPr/>
        </p:nvSpPr>
        <p:spPr>
          <a:xfrm>
            <a:off x="9384357" y="2748812"/>
            <a:ext cx="212776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Месяц 4-6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1288746" y="2736503"/>
            <a:ext cx="4370279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Фокус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B2B: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Кабинет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администратора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группы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10+ ПК).</a:t>
            </a:r>
            <a:endParaRPr dirty="0"/>
          </a:p>
        </p:txBody>
      </p:sp>
      <p:sp>
        <p:nvSpPr>
          <p:cNvPr id="238" name="Google Shape;238;p20"/>
          <p:cNvSpPr txBox="1"/>
          <p:nvPr/>
        </p:nvSpPr>
        <p:spPr>
          <a:xfrm>
            <a:off x="4216314" y="4053562"/>
            <a:ext cx="4370279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Агенты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Выполнение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сложных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цепочек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задач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через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Agentic LLM.</a:t>
            </a:r>
            <a:endParaRPr dirty="0"/>
          </a:p>
        </p:txBody>
      </p:sp>
      <p:sp>
        <p:nvSpPr>
          <p:cNvPr id="239" name="Google Shape;239;p20"/>
          <p:cNvSpPr txBox="1"/>
          <p:nvPr/>
        </p:nvSpPr>
        <p:spPr>
          <a:xfrm>
            <a:off x="7482850" y="2736503"/>
            <a:ext cx="4370279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Seed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Раунд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Привлечение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инвестиций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выхода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глобальный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рынок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240" name="Google Shape;24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0121" y="2823419"/>
            <a:ext cx="258160" cy="24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87689" y="4140478"/>
            <a:ext cx="258160" cy="24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54225" y="2823419"/>
            <a:ext cx="202840" cy="24645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771525" y="581025"/>
            <a:ext cx="4990623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План на 6–12 месяцев</a:t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0" name="Google Shape;250;p21"/>
          <p:cNvGraphicFramePr/>
          <p:nvPr>
            <p:extLst>
              <p:ext uri="{D42A27DB-BD31-4B8C-83A1-F6EECF244321}">
                <p14:modId xmlns:p14="http://schemas.microsoft.com/office/powerpoint/2010/main" val="194967869"/>
              </p:ext>
            </p:extLst>
          </p:nvPr>
        </p:nvGraphicFramePr>
        <p:xfrm>
          <a:off x="581025" y="2633662"/>
          <a:ext cx="11029950" cy="2486000"/>
        </p:xfrm>
        <a:graphic>
          <a:graphicData uri="http://schemas.openxmlformats.org/drawingml/2006/table">
            <a:tbl>
              <a:tblPr firstRow="1" bandRow="1">
                <a:noFill/>
                <a:tableStyleId>{5083E6F6-2E1F-4A27-B2F2-488033CFFDC7}</a:tableStyleId>
              </a:tblPr>
              <a:tblGrid>
                <a:gridCol w="207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9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Сотрудник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Роль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Загрузка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Риск / Узкое место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Валиев А.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Product Manager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 FTE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Отсутствие UX-дизайнера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Солодкин М.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Frontend (C#)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 FTE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Пик нагрузки в 1-й месяц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Цыганов К.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Backend (Python)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 FTE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Масштабирование WebSockets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Лемешев В.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Marketing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 FTE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Поиск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дешевых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каналов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трафика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1" name="Google Shape;251;p21"/>
          <p:cNvSpPr/>
          <p:nvPr/>
        </p:nvSpPr>
        <p:spPr>
          <a:xfrm>
            <a:off x="581025" y="3109912"/>
            <a:ext cx="2073473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2654498" y="3109912"/>
            <a:ext cx="2663874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5318373" y="3109912"/>
            <a:ext cx="1612701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6931074" y="3109912"/>
            <a:ext cx="46799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581025" y="3619500"/>
            <a:ext cx="20734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2654498" y="3619500"/>
            <a:ext cx="26638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5318373" y="3619500"/>
            <a:ext cx="16127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6931074" y="3619500"/>
            <a:ext cx="4679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581025" y="4114800"/>
            <a:ext cx="20734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2654498" y="4114800"/>
            <a:ext cx="26638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318373" y="4114800"/>
            <a:ext cx="16127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6931074" y="4114800"/>
            <a:ext cx="4679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581025" y="4610100"/>
            <a:ext cx="20734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2654498" y="4610100"/>
            <a:ext cx="26638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5318373" y="4610100"/>
            <a:ext cx="16127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6931074" y="4610100"/>
            <a:ext cx="4679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581025" y="5105400"/>
            <a:ext cx="20734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2654498" y="5105400"/>
            <a:ext cx="26638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5318373" y="5105400"/>
            <a:ext cx="16127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6931074" y="5105400"/>
            <a:ext cx="4679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Модель команды</a:t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8" name="Google Shape;278;p22"/>
          <p:cNvGraphicFramePr/>
          <p:nvPr>
            <p:extLst>
              <p:ext uri="{D42A27DB-BD31-4B8C-83A1-F6EECF244321}">
                <p14:modId xmlns:p14="http://schemas.microsoft.com/office/powerpoint/2010/main" val="2129599937"/>
              </p:ext>
            </p:extLst>
          </p:nvPr>
        </p:nvGraphicFramePr>
        <p:xfrm>
          <a:off x="581025" y="2386012"/>
          <a:ext cx="11029975" cy="2981275"/>
        </p:xfrm>
        <a:graphic>
          <a:graphicData uri="http://schemas.openxmlformats.org/drawingml/2006/table">
            <a:tbl>
              <a:tblPr firstRow="1" bandRow="1">
                <a:noFill/>
                <a:tableStyleId>{5083E6F6-2E1F-4A27-B2F2-488033CFFDC7}</a:tableStyleId>
              </a:tblPr>
              <a:tblGrid>
                <a:gridCol w="346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3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Задача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Mkt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Бэклог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 / 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Дизайн UI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Код / Релиз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Тестирование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Реклама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9" name="Google Shape;279;p22"/>
          <p:cNvSpPr/>
          <p:nvPr/>
        </p:nvSpPr>
        <p:spPr>
          <a:xfrm>
            <a:off x="581025" y="2862262"/>
            <a:ext cx="3469034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4050059" y="2862262"/>
            <a:ext cx="1556593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5606653" y="2862262"/>
            <a:ext cx="1712267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7318920" y="2862262"/>
            <a:ext cx="1623268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8942189" y="2862262"/>
            <a:ext cx="1423094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10365283" y="2862262"/>
            <a:ext cx="1245691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581025" y="3371850"/>
            <a:ext cx="34690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4050059" y="3371850"/>
            <a:ext cx="15565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5606653" y="3371850"/>
            <a:ext cx="17122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7318920" y="3371850"/>
            <a:ext cx="16232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8942189" y="3371850"/>
            <a:ext cx="14230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10365283" y="3371850"/>
            <a:ext cx="12456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581025" y="3867150"/>
            <a:ext cx="34690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4050059" y="3867150"/>
            <a:ext cx="15565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5606653" y="3867150"/>
            <a:ext cx="17122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7318920" y="3867150"/>
            <a:ext cx="16232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8942189" y="3867150"/>
            <a:ext cx="14230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10365283" y="3867150"/>
            <a:ext cx="12456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581025" y="4362450"/>
            <a:ext cx="34690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4050059" y="4362450"/>
            <a:ext cx="15565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5606653" y="4362450"/>
            <a:ext cx="17122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7318920" y="4362450"/>
            <a:ext cx="16232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8942189" y="4362450"/>
            <a:ext cx="14230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10365283" y="4362450"/>
            <a:ext cx="12456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581025" y="4857750"/>
            <a:ext cx="34690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4050059" y="4857750"/>
            <a:ext cx="15565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5606653" y="4857750"/>
            <a:ext cx="17122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7318920" y="4857750"/>
            <a:ext cx="16232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8942189" y="4857750"/>
            <a:ext cx="14230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10365283" y="4857750"/>
            <a:ext cx="12456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581025" y="5353050"/>
            <a:ext cx="34690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4050059" y="5353050"/>
            <a:ext cx="15565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5606653" y="5353050"/>
            <a:ext cx="17122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7318920" y="5353050"/>
            <a:ext cx="16232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8942189" y="5353050"/>
            <a:ext cx="14230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10365283" y="5353050"/>
            <a:ext cx="12456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RACI-матрица ответственности</a:t>
            </a: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3"/>
          <p:cNvSpPr txBox="1"/>
          <p:nvPr/>
        </p:nvSpPr>
        <p:spPr>
          <a:xfrm>
            <a:off x="1009650" y="3019425"/>
            <a:ext cx="10601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Трекинг: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Канбан-доска в Trello (прозрачность задач).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1009650" y="3448050"/>
            <a:ext cx="10601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Ритм: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Спринты 2 недели, Daily-созвоны 15 мин в Discord.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1009650" y="3876675"/>
            <a:ext cx="10601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Quality Gate: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Релиз только после аппрува QA и PM.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1009650" y="4305300"/>
            <a:ext cx="10601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Фидбек: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Еженедельный разбор багов из Telegram-бота поддержки.</a:t>
            </a:r>
            <a:endParaRPr/>
          </a:p>
        </p:txBody>
      </p:sp>
      <p:pic>
        <p:nvPicPr>
          <p:cNvPr id="326" name="Google Shape;32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622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4909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9195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48162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3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Процессы и коммуникации</a:t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7" name="Google Shape;337;p24"/>
          <p:cNvGraphicFramePr/>
          <p:nvPr>
            <p:extLst>
              <p:ext uri="{D42A27DB-BD31-4B8C-83A1-F6EECF244321}">
                <p14:modId xmlns:p14="http://schemas.microsoft.com/office/powerpoint/2010/main" val="709080836"/>
              </p:ext>
            </p:extLst>
          </p:nvPr>
        </p:nvGraphicFramePr>
        <p:xfrm>
          <a:off x="581025" y="2633662"/>
          <a:ext cx="11029950" cy="2486000"/>
        </p:xfrm>
        <a:graphic>
          <a:graphicData uri="http://schemas.openxmlformats.org/drawingml/2006/table">
            <a:tbl>
              <a:tblPr firstRow="1" bandRow="1">
                <a:noFill/>
                <a:tableStyleId>{5083E6F6-2E1F-4A27-B2F2-488033CFFDC7}</a:tableStyleId>
              </a:tblPr>
              <a:tblGrid>
                <a:gridCol w="307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Риск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Вер-ть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EA5E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Меры снижения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Блокировка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API Gemini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Средняя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Слой абстракции для переключения на GigaChat/YandexGPT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Сложные файрволы (NAT)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Высокая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Использование TURN серверов и пошаговые видео-гайды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Дорогой CAC (реклама)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Средняя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Отказ от контекстной рекламы, фокус на CPA и посевы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Срыв сроков v1.0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Средняя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Жесткое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обрезание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фич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MoSCoW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8" name="Google Shape;338;p24"/>
          <p:cNvSpPr/>
          <p:nvPr/>
        </p:nvSpPr>
        <p:spPr>
          <a:xfrm>
            <a:off x="581025" y="3109912"/>
            <a:ext cx="3070919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3651944" y="3109912"/>
            <a:ext cx="1254174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4906119" y="3109912"/>
            <a:ext cx="6704855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581025" y="3619500"/>
            <a:ext cx="30709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3651944" y="3619500"/>
            <a:ext cx="12541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4906119" y="3619500"/>
            <a:ext cx="67048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581025" y="4114800"/>
            <a:ext cx="30709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3651944" y="4114800"/>
            <a:ext cx="12541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4906119" y="4114800"/>
            <a:ext cx="67048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581025" y="4610100"/>
            <a:ext cx="30709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3651944" y="4610100"/>
            <a:ext cx="12541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4906119" y="4610100"/>
            <a:ext cx="67048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581025" y="5105400"/>
            <a:ext cx="30709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3651944" y="5105400"/>
            <a:ext cx="12541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4906119" y="5105400"/>
            <a:ext cx="67048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Риски и меры снижения</a:t>
            </a:r>
            <a:endParaRPr/>
          </a:p>
        </p:txBody>
      </p:sp>
      <p:sp>
        <p:nvSpPr>
          <p:cNvPr id="354" name="Google Shape;354;p24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14600"/>
            <a:ext cx="34861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514600"/>
            <a:ext cx="34861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514600"/>
            <a:ext cx="34861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8098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5"/>
          <p:cNvSpPr txBox="1"/>
          <p:nvPr/>
        </p:nvSpPr>
        <p:spPr>
          <a:xfrm>
            <a:off x="876300" y="3800475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Ценность подтверждена. Главный фокус — исправление UX-барьеров и старт монетизации.</a:t>
            </a:r>
            <a:endParaRPr/>
          </a:p>
        </p:txBody>
      </p:sp>
      <p:pic>
        <p:nvPicPr>
          <p:cNvPr id="365" name="Google Shape;365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8098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5"/>
          <p:cNvSpPr txBox="1"/>
          <p:nvPr/>
        </p:nvSpPr>
        <p:spPr>
          <a:xfrm>
            <a:off x="4648200" y="3800475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Полностью укомплектована. Четкие роли по RACI исключают размытие ответственности.</a:t>
            </a:r>
            <a:endParaRPr/>
          </a:p>
        </p:txBody>
      </p:sp>
      <p:pic>
        <p:nvPicPr>
          <p:cNvPr id="367" name="Google Shape;367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8098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5"/>
          <p:cNvSpPr txBox="1"/>
          <p:nvPr/>
        </p:nvSpPr>
        <p:spPr>
          <a:xfrm>
            <a:off x="8420100" y="3800475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Снижение CAC за счет точечного маркетинга в IT-сообществах — ключевой фактор успеха.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Ключевые выводы</a:t>
            </a:r>
            <a:endParaRPr/>
          </a:p>
        </p:txBody>
      </p:sp>
      <p:sp>
        <p:nvSpPr>
          <p:cNvPr id="370" name="Google Shape;370;p25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 txBox="1"/>
          <p:nvPr/>
        </p:nvSpPr>
        <p:spPr>
          <a:xfrm>
            <a:off x="876300" y="3381375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Продукт</a:t>
            </a:r>
            <a:endParaRPr/>
          </a:p>
        </p:txBody>
      </p:sp>
      <p:sp>
        <p:nvSpPr>
          <p:cNvPr id="372" name="Google Shape;372;p25"/>
          <p:cNvSpPr txBox="1"/>
          <p:nvPr/>
        </p:nvSpPr>
        <p:spPr>
          <a:xfrm>
            <a:off x="4648200" y="3381375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Команда</a:t>
            </a:r>
            <a:endParaRPr/>
          </a:p>
        </p:txBody>
      </p:sp>
      <p:sp>
        <p:nvSpPr>
          <p:cNvPr id="373" name="Google Shape;373;p25"/>
          <p:cNvSpPr txBox="1"/>
          <p:nvPr/>
        </p:nvSpPr>
        <p:spPr>
          <a:xfrm>
            <a:off x="8420100" y="3381375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Рост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6"/>
          <p:cNvSpPr txBox="1"/>
          <p:nvPr/>
        </p:nvSpPr>
        <p:spPr>
          <a:xfrm>
            <a:off x="581025" y="47910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Готовы к запуску!</a:t>
            </a:r>
            <a:endParaRPr/>
          </a:p>
        </p:txBody>
      </p:sp>
      <p:sp>
        <p:nvSpPr>
          <p:cNvPr id="380" name="Google Shape;380;p26"/>
          <p:cNvSpPr txBox="1"/>
          <p:nvPr/>
        </p:nvSpPr>
        <p:spPr>
          <a:xfrm>
            <a:off x="3581400" y="2600325"/>
            <a:ext cx="5457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Перенос Backlog в Trello и старт 1-го спринта.</a:t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3581400" y="3028950"/>
            <a:ext cx="5457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Техническая переработка UI (Frontend - Солодкин).</a:t>
            </a:r>
            <a:endParaRPr/>
          </a:p>
        </p:txBody>
      </p:sp>
      <p:sp>
        <p:nvSpPr>
          <p:cNvPr id="382" name="Google Shape;382;p26"/>
          <p:cNvSpPr txBox="1"/>
          <p:nvPr/>
        </p:nvSpPr>
        <p:spPr>
          <a:xfrm>
            <a:off x="3581400" y="3457575"/>
            <a:ext cx="6157586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Подготовка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посевов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Telegram (Marketing -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Лемешев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383" name="Google Shape;383;p26"/>
          <p:cNvSpPr txBox="1"/>
          <p:nvPr/>
        </p:nvSpPr>
        <p:spPr>
          <a:xfrm>
            <a:off x="3581400" y="3886200"/>
            <a:ext cx="5457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Регистрация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платежном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шлюзе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(PM -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Валиев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pic>
        <p:nvPicPr>
          <p:cNvPr id="384" name="Google Shape;38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2775" y="26431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2775" y="307181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2775" y="350043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2775" y="3929062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6"/>
          <p:cNvSpPr txBox="1"/>
          <p:nvPr/>
        </p:nvSpPr>
        <p:spPr>
          <a:xfrm>
            <a:off x="305276" y="1724025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Следующие шаги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643</Words>
  <Application>Microsoft Office PowerPoint</Application>
  <PresentationFormat>Широкоэкранный</PresentationFormat>
  <Paragraphs>178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Calibri</vt:lpstr>
      <vt:lpstr>Arial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Цыганов Кирилл</cp:lastModifiedBy>
  <cp:revision>8</cp:revision>
  <dcterms:modified xsi:type="dcterms:W3CDTF">2026-05-13T00:58:43Z</dcterms:modified>
</cp:coreProperties>
</file>