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783D12C-2DD4-44B8-B611-3FDB0FC16382}">
  <a:tblStyle styleId="{3783D12C-2DD4-44B8-B611-3FDB0FC1638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11" Type="http://schemas.openxmlformats.org/officeDocument/2006/relationships/slide" Target="slides/slide5.xml"/><Relationship Id="rId22" Type="http://schemas.openxmlformats.org/officeDocument/2006/relationships/font" Target="fonts/Inter-bold.fntdata"/><Relationship Id="rId10" Type="http://schemas.openxmlformats.org/officeDocument/2006/relationships/slide" Target="slides/slide4.xml"/><Relationship Id="rId21" Type="http://schemas.openxmlformats.org/officeDocument/2006/relationships/font" Target="fonts/Inter-regular.fntdata"/><Relationship Id="rId13" Type="http://schemas.openxmlformats.org/officeDocument/2006/relationships/slide" Target="slides/slide7.xml"/><Relationship Id="rId24" Type="http://schemas.openxmlformats.org/officeDocument/2006/relationships/font" Target="fonts/Inter-boldItalic.fntdata"/><Relationship Id="rId12" Type="http://schemas.openxmlformats.org/officeDocument/2006/relationships/slide" Target="slides/slide6.xml"/><Relationship Id="rId23" Type="http://schemas.openxmlformats.org/officeDocument/2006/relationships/font" Target="fonts/Int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InterSemiBold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InterSemiBold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Inter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5" Type="http://schemas.openxmlformats.org/officeDocument/2006/relationships/image" Target="../media/image15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10" Type="http://schemas.openxmlformats.org/officeDocument/2006/relationships/image" Target="../media/image16.png"/><Relationship Id="rId9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20.png"/><Relationship Id="rId7" Type="http://schemas.openxmlformats.org/officeDocument/2006/relationships/image" Target="../media/image24.png"/><Relationship Id="rId8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623119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ПРАКТИЧЕСКОЕ ЗАНЯТИЕ №21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1975544"/>
            <a:ext cx="11601450" cy="2011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Проект «Пятница»: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Конструирование модели монетизации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750" y="4272706"/>
            <a:ext cx="952500" cy="476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834681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Финансовая модель, Sales Test и анализ чувствительности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3525"/>
            <a:ext cx="3555950" cy="3762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1533525"/>
            <a:ext cx="3555950" cy="3762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533525"/>
            <a:ext cx="3556099" cy="3762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1781175"/>
            <a:ext cx="306065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19150" y="2228850"/>
            <a:ext cx="321368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Гипотеза №1: SaaS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19150" y="2628900"/>
            <a:ext cx="30606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Модель: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Подписка.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19150" y="3057525"/>
            <a:ext cx="30606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Кто: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Фрилансеры.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19150" y="3486150"/>
            <a:ext cx="30606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Цена: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$9/мес.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19150" y="3914775"/>
            <a:ext cx="30606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Логика: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Регулярное использование AI-функций требует подписки.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5125" y="1790700"/>
            <a:ext cx="3041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4575125" y="2238375"/>
            <a:ext cx="3193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Гипотеза №2: Лицензия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575125" y="2638425"/>
            <a:ext cx="30416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Модель: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Perpetual (разово).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4575125" y="3067050"/>
            <a:ext cx="30416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Кто: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Power Users / IT.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4575125" y="3495675"/>
            <a:ext cx="30416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Цена: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$60 (разово).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4575125" y="3924300"/>
            <a:ext cx="30416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Логика: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Приватный софт лучше покупается как "владение".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4575125" y="4610100"/>
            <a:ext cx="30416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ПРИОРИТЕТНАЯ</a:t>
            </a:r>
            <a:endParaRPr/>
          </a:p>
        </p:txBody>
      </p:sp>
      <p:pic>
        <p:nvPicPr>
          <p:cNvPr descr="image.png" id="110" name="Google Shape;110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12050" y="1781175"/>
            <a:ext cx="3060799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8312050" y="2228850"/>
            <a:ext cx="321383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Гипотеза №3: B2B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312050" y="2628900"/>
            <a:ext cx="306079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Модель: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Контракт.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312050" y="3057525"/>
            <a:ext cx="306079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Кто: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IT-департаменты.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312050" y="3486150"/>
            <a:ext cx="306079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Цена: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от $2000/год.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8312050" y="3914775"/>
            <a:ext cx="306079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Логика: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Оплата за безопасность данных внутри периметра.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ШАГ 1. ГИПОТЕЗЫ МОНЕТИЗАЦИИ</a:t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571500" y="11334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95700"/>
            <a:ext cx="11049000" cy="762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4" name="Google Shape;124;p15"/>
          <p:cNvGraphicFramePr/>
          <p:nvPr/>
        </p:nvGraphicFramePr>
        <p:xfrm>
          <a:off x="571500" y="16287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{3783D12C-2DD4-44B8-B611-3FDB0FC16382}</a:tableStyleId>
              </a:tblPr>
              <a:tblGrid>
                <a:gridCol w="1556450"/>
                <a:gridCol w="2293150"/>
                <a:gridCol w="5809350"/>
                <a:gridCol w="1390050"/>
              </a:tblGrid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369A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Тариф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369A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Единица оплаты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369A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Состав оффера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369A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Цена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Starter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Бесплатно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Базовые команды, Open-source ядро, без LLM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Power Pro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Разово (LTC)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Локальные модели, удаленное управление, 3 ПК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$60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Лицензия (год)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Управление парком машин, Priority Support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$150/год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5" name="Google Shape;125;p15"/>
          <p:cNvSpPr/>
          <p:nvPr/>
        </p:nvSpPr>
        <p:spPr>
          <a:xfrm>
            <a:off x="571500" y="2095500"/>
            <a:ext cx="1556444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2127944" y="2095500"/>
            <a:ext cx="2293143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4421088" y="2095500"/>
            <a:ext cx="5809357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10230445" y="2095500"/>
            <a:ext cx="1390054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571500" y="2538412"/>
            <a:ext cx="15564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2127944" y="2538412"/>
            <a:ext cx="22931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4421088" y="2538412"/>
            <a:ext cx="58093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10230445" y="2538412"/>
            <a:ext cx="13900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571500" y="2967037"/>
            <a:ext cx="15564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2127944" y="2967037"/>
            <a:ext cx="22931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4421088" y="2967037"/>
            <a:ext cx="58093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10230445" y="2967037"/>
            <a:ext cx="13900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571500" y="3395662"/>
            <a:ext cx="15564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2127944" y="3395662"/>
            <a:ext cx="22931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4421088" y="3395662"/>
            <a:ext cx="58093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10230445" y="3395662"/>
            <a:ext cx="13900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ШАГ 2. ПРОЕКТИРОВАНИЕ ТАРИФОВ</a:t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571500" y="11334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571500" y="1762125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1. Лиды и Источники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571500" y="2209800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Портрет: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Системные администраторы, DevOps, Backend-разработчики.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571500" y="2895600"/>
            <a:ext cx="5334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Где взять (20-30 чел):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6286500" y="1762125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2. Метрики и Критерии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66750" y="33242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762000" y="3324225"/>
            <a:ext cx="5143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Профильные чаты в Telegram (DevOps Jobs).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66750" y="35814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762000" y="3581400"/>
            <a:ext cx="5143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Комментаторы статей на Habr по теме автоматизации.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666750" y="38385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762000" y="3838575"/>
            <a:ext cx="5143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Reddit (r/sysadmin).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6286500" y="2190750"/>
            <a:ext cx="5334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Reply Rate: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&gt; 15%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6286500" y="2447925"/>
            <a:ext cx="5334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Demo Rate: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&gt; 10%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6286500" y="2705100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Критерий успеха: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3+ согласия на платный пилот из 30 контактов.</a:t>
            </a:r>
            <a:endParaRPr/>
          </a:p>
        </p:txBody>
      </p:sp>
      <p:pic>
        <p:nvPicPr>
          <p:cNvPr descr="image.png" id="161" name="Google Shape;16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2336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490787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747962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6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ШАГ 4. ПЛАН «ТЕСТА ПРОДАЖАМИ»</a:t>
            </a:r>
            <a:endParaRPr/>
          </a:p>
        </p:txBody>
      </p:sp>
      <p:sp>
        <p:nvSpPr>
          <p:cNvPr id="165" name="Google Shape;165;p16"/>
          <p:cNvSpPr/>
          <p:nvPr/>
        </p:nvSpPr>
        <p:spPr>
          <a:xfrm>
            <a:off x="571500" y="11334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3525"/>
            <a:ext cx="5334000" cy="2276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533525"/>
            <a:ext cx="5334000" cy="227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/>
        </p:nvSpPr>
        <p:spPr>
          <a:xfrm>
            <a:off x="571500" y="4095750"/>
            <a:ext cx="1160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Форма фиксации:</a:t>
            </a:r>
            <a:endParaRPr/>
          </a:p>
        </p:txBody>
      </p:sp>
      <p:graphicFrame>
        <p:nvGraphicFramePr>
          <p:cNvPr id="174" name="Google Shape;174;p17"/>
          <p:cNvGraphicFramePr/>
          <p:nvPr/>
        </p:nvGraphicFramePr>
        <p:xfrm>
          <a:off x="571500" y="4610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{3783D12C-2DD4-44B8-B611-3FDB0FC16382}</a:tableStyleId>
              </a:tblPr>
              <a:tblGrid>
                <a:gridCol w="1740400"/>
                <a:gridCol w="1553925"/>
                <a:gridCol w="1833700"/>
                <a:gridCol w="3496425"/>
                <a:gridCol w="2424550"/>
              </a:tblGrid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Имя/Ник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Канал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Результат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Willingness-to-pay (WTP)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Отказ (причина)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@dev_adm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Telegram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Demo done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Готов платить $50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—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5" name="Google Shape;175;p17"/>
          <p:cNvSpPr/>
          <p:nvPr/>
        </p:nvSpPr>
        <p:spPr>
          <a:xfrm>
            <a:off x="571500" y="5024437"/>
            <a:ext cx="17403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2311896" y="5024437"/>
            <a:ext cx="15539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3865810" y="5024437"/>
            <a:ext cx="18337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5699521" y="5024437"/>
            <a:ext cx="34964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9195941" y="5024437"/>
            <a:ext cx="24245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809625" y="1895475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Скрипт контакта (LinkedIn/TG):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809625" y="2324100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"Привет! Мы делаем «Пятницу» — локальный голос для Windows. Ты писал про автоматизацию в PowerShell, хотим показать, как это делать голосом без облака. Можно закинуть тебе демку на 5 минут в обмен на фидбек?"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6524625" y="1895475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Этапы продаж: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6524625" y="2324100"/>
            <a:ext cx="49053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1. Холодный контакт (TG/Reddit)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2. Ответ (интерес)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3. Демонстрация (Zoom/Loom)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4. Оффер (WTP check)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5. Действие (Оплата/Пилот)</a:t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571500" y="5453062"/>
            <a:ext cx="17403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2311896" y="5453062"/>
            <a:ext cx="15539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3865810" y="5453062"/>
            <a:ext cx="18337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5699521" y="5453062"/>
            <a:ext cx="34964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9195941" y="5453062"/>
            <a:ext cx="24245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МАТЕРИАЛЫ ДЛЯ SALES TEST</a:t>
            </a:r>
            <a:endParaRPr/>
          </a:p>
        </p:txBody>
      </p:sp>
      <p:sp>
        <p:nvSpPr>
          <p:cNvPr id="190" name="Google Shape;190;p17"/>
          <p:cNvSpPr/>
          <p:nvPr/>
        </p:nvSpPr>
        <p:spPr>
          <a:xfrm>
            <a:off x="571500" y="11334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0" y="1724025"/>
            <a:ext cx="81915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0" y="2200275"/>
            <a:ext cx="81915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0" y="2676525"/>
            <a:ext cx="81915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0" y="3152775"/>
            <a:ext cx="81915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9000" y="3629025"/>
            <a:ext cx="81915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29000" y="1724025"/>
            <a:ext cx="81915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29000" y="2200275"/>
            <a:ext cx="16383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29000" y="2676525"/>
            <a:ext cx="8191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29000" y="3152775"/>
            <a:ext cx="32757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48050" y="3648075"/>
            <a:ext cx="1905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8"/>
          <p:cNvSpPr txBox="1"/>
          <p:nvPr/>
        </p:nvSpPr>
        <p:spPr>
          <a:xfrm>
            <a:off x="571500" y="4391025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Итоговая конверсия из контакта в оплату: 2%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571500" y="1819275"/>
            <a:ext cx="2667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Контакты (Outreach)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571500" y="2295525"/>
            <a:ext cx="2667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Ответы (Reply %)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571500" y="2771775"/>
            <a:ext cx="2667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Демо / Созвоны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571500" y="3248025"/>
            <a:ext cx="2667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Пилоты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571500" y="3724275"/>
            <a:ext cx="2667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Платящие клиенты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11125200" y="2295525"/>
            <a:ext cx="3524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20%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10572750" y="2771775"/>
            <a:ext cx="904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50% от отв.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10448925" y="3248025"/>
            <a:ext cx="102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40% от демо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10525125" y="3724275"/>
            <a:ext cx="9334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50% от пил.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БЛОК 1. ВОРОНКА ПРОДАЖ (M1-M6)</a:t>
            </a:r>
            <a:endParaRPr/>
          </a:p>
        </p:txBody>
      </p:sp>
      <p:sp>
        <p:nvSpPr>
          <p:cNvPr id="217" name="Google Shape;217;p18"/>
          <p:cNvSpPr/>
          <p:nvPr/>
        </p:nvSpPr>
        <p:spPr>
          <a:xfrm>
            <a:off x="571500" y="11334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81225"/>
            <a:ext cx="5334000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9"/>
          <p:cNvSpPr txBox="1"/>
          <p:nvPr/>
        </p:nvSpPr>
        <p:spPr>
          <a:xfrm>
            <a:off x="571500" y="1762125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Доходы (M6 прогноз)</a:t>
            </a:r>
            <a:endParaRPr/>
          </a:p>
        </p:txBody>
      </p:sp>
      <p:graphicFrame>
        <p:nvGraphicFramePr>
          <p:cNvPr id="225" name="Google Shape;225;p19"/>
          <p:cNvGraphicFramePr/>
          <p:nvPr/>
        </p:nvGraphicFramePr>
        <p:xfrm>
          <a:off x="571500" y="27622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{3783D12C-2DD4-44B8-B611-3FDB0FC16382}</a:tableStyleId>
              </a:tblPr>
              <a:tblGrid>
                <a:gridCol w="2989500"/>
                <a:gridCol w="2344500"/>
              </a:tblGrid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Платящие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30 чел/мес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Средний чек (ARPU)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$60 (~5 500 ₽)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Итого (мес)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165 000 ₽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226" name="Google Shape;226;p19"/>
          <p:cNvSpPr txBox="1"/>
          <p:nvPr/>
        </p:nvSpPr>
        <p:spPr>
          <a:xfrm>
            <a:off x="6286500" y="1762125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Затраты (M6 прогноз)</a:t>
            </a:r>
            <a:endParaRPr/>
          </a:p>
        </p:txBody>
      </p:sp>
      <p:graphicFrame>
        <p:nvGraphicFramePr>
          <p:cNvPr id="227" name="Google Shape;227;p19"/>
          <p:cNvGraphicFramePr/>
          <p:nvPr/>
        </p:nvGraphicFramePr>
        <p:xfrm>
          <a:off x="6286500" y="21812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{3783D12C-2DD4-44B8-B611-3FDB0FC16382}</a:tableStyleId>
              </a:tblPr>
              <a:tblGrid>
                <a:gridCol w="3397450"/>
                <a:gridCol w="1936550"/>
              </a:tblGrid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COGS (Support/Infra)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15 000 ₽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Маркетинг / Sales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40 000 ₽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Разработка (OpEx)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70 000 ₽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Итого затрат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125 000 ₽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228" name="Google Shape;228;p19"/>
          <p:cNvSpPr/>
          <p:nvPr/>
        </p:nvSpPr>
        <p:spPr>
          <a:xfrm>
            <a:off x="571500" y="3176587"/>
            <a:ext cx="29895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3561010" y="3176587"/>
            <a:ext cx="23444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6286500" y="2595562"/>
            <a:ext cx="33974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9683948" y="2595562"/>
            <a:ext cx="19365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571500" y="3605212"/>
            <a:ext cx="29895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3561010" y="3605212"/>
            <a:ext cx="23444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571500" y="4033837"/>
            <a:ext cx="29895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3561010" y="4033837"/>
            <a:ext cx="23444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6286500" y="3024187"/>
            <a:ext cx="33974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9683948" y="3024187"/>
            <a:ext cx="19365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6286500" y="3452812"/>
            <a:ext cx="33974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9683948" y="3452812"/>
            <a:ext cx="19365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6286500" y="3881437"/>
            <a:ext cx="33974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9683948" y="3881437"/>
            <a:ext cx="19365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БЛОК 2-3. ДОХОДЫ И ЗАТРАТЫ</a:t>
            </a:r>
            <a:endParaRPr/>
          </a:p>
        </p:txBody>
      </p:sp>
      <p:sp>
        <p:nvSpPr>
          <p:cNvPr id="243" name="Google Shape;243;p19"/>
          <p:cNvSpPr/>
          <p:nvPr/>
        </p:nvSpPr>
        <p:spPr>
          <a:xfrm>
            <a:off x="571500" y="11334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90950"/>
            <a:ext cx="11049000" cy="12382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0" name="Google Shape;250;p20"/>
          <p:cNvGraphicFramePr/>
          <p:nvPr/>
        </p:nvGraphicFramePr>
        <p:xfrm>
          <a:off x="571500" y="16287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{3783D12C-2DD4-44B8-B611-3FDB0FC16382}</a:tableStyleId>
              </a:tblPr>
              <a:tblGrid>
                <a:gridCol w="2857500"/>
                <a:gridCol w="2079125"/>
                <a:gridCol w="6112375"/>
              </a:tblGrid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369A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Метрика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369A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Значение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369A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Комментарий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Валовая прибыль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150 000 ₽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Выручка за вычетом COGS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Маржа (%)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Высокая за счет локальной обработки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Операционный результат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+40 000 ₽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Точка безубыточности пройдена на M5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251" name="Google Shape;251;p20"/>
          <p:cNvSpPr txBox="1"/>
          <p:nvPr/>
        </p:nvSpPr>
        <p:spPr>
          <a:xfrm>
            <a:off x="809625" y="4152900"/>
            <a:ext cx="10620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Ключевой вывод: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Модель жизнеспособна при условии сохранения стоимости привлечения (CAC) ниже $25 на одного платящего пользователя.</a:t>
            </a:r>
            <a:endParaRPr/>
          </a:p>
        </p:txBody>
      </p:sp>
      <p:sp>
        <p:nvSpPr>
          <p:cNvPr id="252" name="Google Shape;252;p20"/>
          <p:cNvSpPr/>
          <p:nvPr/>
        </p:nvSpPr>
        <p:spPr>
          <a:xfrm>
            <a:off x="571500" y="2095500"/>
            <a:ext cx="28575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3429000" y="2095500"/>
            <a:ext cx="2079128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5508128" y="2095500"/>
            <a:ext cx="6112371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571500" y="2538412"/>
            <a:ext cx="2857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3429000" y="2538412"/>
            <a:ext cx="20791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5508128" y="2538412"/>
            <a:ext cx="61123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571500" y="2967037"/>
            <a:ext cx="2857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0"/>
          <p:cNvSpPr/>
          <p:nvPr/>
        </p:nvSpPr>
        <p:spPr>
          <a:xfrm>
            <a:off x="3429000" y="2967037"/>
            <a:ext cx="20791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5508128" y="2967037"/>
            <a:ext cx="61123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571500" y="3395662"/>
            <a:ext cx="2857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3429000" y="3395662"/>
            <a:ext cx="20791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5508128" y="3395662"/>
            <a:ext cx="61123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БЛОК 4. ФИНАНСОВЫЕ ИТОГИ (M6)</a:t>
            </a:r>
            <a:endParaRPr/>
          </a:p>
        </p:txBody>
      </p:sp>
      <p:sp>
        <p:nvSpPr>
          <p:cNvPr id="265" name="Google Shape;265;p20"/>
          <p:cNvSpPr/>
          <p:nvPr/>
        </p:nvSpPr>
        <p:spPr>
          <a:xfrm>
            <a:off x="571500" y="11334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0" name="Google Shape;27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1"/>
          <p:cNvSpPr txBox="1"/>
          <p:nvPr/>
        </p:nvSpPr>
        <p:spPr>
          <a:xfrm>
            <a:off x="571500" y="1704975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Изменение операционной прибыли при варьировании ключевых параметров:</a:t>
            </a:r>
            <a:endParaRPr/>
          </a:p>
        </p:txBody>
      </p:sp>
      <p:graphicFrame>
        <p:nvGraphicFramePr>
          <p:cNvPr id="272" name="Google Shape;272;p21"/>
          <p:cNvGraphicFramePr/>
          <p:nvPr/>
        </p:nvGraphicFramePr>
        <p:xfrm>
          <a:off x="571500" y="22479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{3783D12C-2DD4-44B8-B611-3FDB0FC16382}</a:tableStyleId>
              </a:tblPr>
              <a:tblGrid>
                <a:gridCol w="3262750"/>
                <a:gridCol w="3084750"/>
                <a:gridCol w="2016925"/>
                <a:gridCol w="2684550"/>
              </a:tblGrid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369A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Сценарий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369A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Конверсия (в платёж)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369A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Средний чек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369A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Результат (M6)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Консервативный (-30%)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$40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C262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-12 000 ₽ (Loss)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Базовый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$60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+40 000 ₽ (Profit)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Оптимистичный (+50%)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$80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6A3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+210 000 ₽ (Profit)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3" name="Google Shape;273;p21"/>
          <p:cNvSpPr txBox="1"/>
          <p:nvPr/>
        </p:nvSpPr>
        <p:spPr>
          <a:xfrm>
            <a:off x="571500" y="4314825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Параметр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"Средний чек"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имеет наибольшее влияние на финансовую устойчивость проекта на раннем этапе.</a:t>
            </a:r>
            <a:endParaRPr/>
          </a:p>
        </p:txBody>
      </p:sp>
      <p:sp>
        <p:nvSpPr>
          <p:cNvPr id="274" name="Google Shape;274;p21"/>
          <p:cNvSpPr/>
          <p:nvPr/>
        </p:nvSpPr>
        <p:spPr>
          <a:xfrm>
            <a:off x="571500" y="2714625"/>
            <a:ext cx="3262758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3834258" y="2714625"/>
            <a:ext cx="30847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6919019" y="2714625"/>
            <a:ext cx="2016918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8935938" y="2714625"/>
            <a:ext cx="2684561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571500" y="3157537"/>
            <a:ext cx="32627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3834258" y="3157537"/>
            <a:ext cx="30847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6919019" y="3157537"/>
            <a:ext cx="20169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8935938" y="3157537"/>
            <a:ext cx="26845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571500" y="3586162"/>
            <a:ext cx="32627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3834258" y="3586162"/>
            <a:ext cx="30847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6919019" y="3586162"/>
            <a:ext cx="20169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8935938" y="3586162"/>
            <a:ext cx="26845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571500" y="4014787"/>
            <a:ext cx="32627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3834258" y="4014787"/>
            <a:ext cx="30847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6919019" y="4014787"/>
            <a:ext cx="20169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8935938" y="4014787"/>
            <a:ext cx="26845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ШАГ 6. АНАЛИЗ ЧУВСТВИТЕЛЬНОСТИ</a:t>
            </a:r>
            <a:endParaRPr/>
          </a:p>
        </p:txBody>
      </p:sp>
      <p:sp>
        <p:nvSpPr>
          <p:cNvPr id="291" name="Google Shape;291;p21"/>
          <p:cNvSpPr/>
          <p:nvPr/>
        </p:nvSpPr>
        <p:spPr>
          <a:xfrm>
            <a:off x="571500" y="11334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6" name="Google Shape;29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533525"/>
            <a:ext cx="5334000" cy="27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2"/>
          <p:cNvSpPr txBox="1"/>
          <p:nvPr/>
        </p:nvSpPr>
        <p:spPr>
          <a:xfrm>
            <a:off x="571500" y="1762125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Что жизнеспособно?</a:t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>
            <a:off x="571500" y="2209800"/>
            <a:ext cx="5334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Модель разовой продажи (LTC) Pro-версии за $60 находит отклик у IT-специалистов, ценящих приватность. Юнит-экономика сходится при CAC &lt; $25.</a:t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571500" y="3171825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Риски</a:t>
            </a:r>
            <a:endParaRPr/>
          </a:p>
        </p:txBody>
      </p:sp>
      <p:sp>
        <p:nvSpPr>
          <p:cNvPr id="301" name="Google Shape;301;p22"/>
          <p:cNvSpPr txBox="1"/>
          <p:nvPr/>
        </p:nvSpPr>
        <p:spPr>
          <a:xfrm>
            <a:off x="571500" y="3619500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Главный риск: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Низкий WTP (готовность платить) из-за наличия бесплатных альтернатив (AutoHotkey).</a:t>
            </a:r>
            <a:endParaRPr/>
          </a:p>
        </p:txBody>
      </p:sp>
      <p:sp>
        <p:nvSpPr>
          <p:cNvPr id="302" name="Google Shape;302;p22"/>
          <p:cNvSpPr txBox="1"/>
          <p:nvPr/>
        </p:nvSpPr>
        <p:spPr>
          <a:xfrm>
            <a:off x="6543675" y="1790700"/>
            <a:ext cx="5060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План на ближайший цикл:</a:t>
            </a:r>
            <a:endParaRPr/>
          </a:p>
        </p:txBody>
      </p:sp>
      <p:sp>
        <p:nvSpPr>
          <p:cNvPr id="303" name="Google Shape;303;p22"/>
          <p:cNvSpPr txBox="1"/>
          <p:nvPr/>
        </p:nvSpPr>
        <p:spPr>
          <a:xfrm>
            <a:off x="6638925" y="21717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4" name="Google Shape;304;p22"/>
          <p:cNvSpPr txBox="1"/>
          <p:nvPr/>
        </p:nvSpPr>
        <p:spPr>
          <a:xfrm>
            <a:off x="6734175" y="2171700"/>
            <a:ext cx="4629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Провести 30 интервью (Sales Test).</a:t>
            </a:r>
            <a:endParaRPr/>
          </a:p>
        </p:txBody>
      </p:sp>
      <p:sp>
        <p:nvSpPr>
          <p:cNvPr id="305" name="Google Shape;305;p22"/>
          <p:cNvSpPr txBox="1"/>
          <p:nvPr/>
        </p:nvSpPr>
        <p:spPr>
          <a:xfrm>
            <a:off x="6638925" y="24288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6" name="Google Shape;306;p22"/>
          <p:cNvSpPr txBox="1"/>
          <p:nvPr/>
        </p:nvSpPr>
        <p:spPr>
          <a:xfrm>
            <a:off x="6734175" y="2428875"/>
            <a:ext cx="4629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Замерить время onboarding (цель &lt; 15 мин).</a:t>
            </a:r>
            <a:endParaRPr/>
          </a:p>
        </p:txBody>
      </p:sp>
      <p:sp>
        <p:nvSpPr>
          <p:cNvPr id="307" name="Google Shape;307;p22"/>
          <p:cNvSpPr txBox="1"/>
          <p:nvPr/>
        </p:nvSpPr>
        <p:spPr>
          <a:xfrm>
            <a:off x="6638925" y="26860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8" name="Google Shape;308;p22"/>
          <p:cNvSpPr txBox="1"/>
          <p:nvPr/>
        </p:nvSpPr>
        <p:spPr>
          <a:xfrm>
            <a:off x="6734175" y="2686050"/>
            <a:ext cx="4629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Проверить гипотезу WTP через пре-ордер.</a:t>
            </a:r>
            <a:endParaRPr/>
          </a:p>
        </p:txBody>
      </p:sp>
      <p:sp>
        <p:nvSpPr>
          <p:cNvPr id="309" name="Google Shape;309;p22"/>
          <p:cNvSpPr txBox="1"/>
          <p:nvPr/>
        </p:nvSpPr>
        <p:spPr>
          <a:xfrm>
            <a:off x="6638925" y="29432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0" name="Google Shape;310;p22"/>
          <p:cNvSpPr txBox="1"/>
          <p:nvPr/>
        </p:nvSpPr>
        <p:spPr>
          <a:xfrm>
            <a:off x="6734175" y="2943225"/>
            <a:ext cx="46291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Корректировка цены: если CR &lt; 1.5%, снижаем чек до $45.</a:t>
            </a:r>
            <a:endParaRPr/>
          </a:p>
        </p:txBody>
      </p:sp>
      <p:sp>
        <p:nvSpPr>
          <p:cNvPr id="311" name="Google Shape;311;p22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ШАГ 7. ВЫВОДЫ И ПЛАН ДЕЙСТВИЙ</a:t>
            </a:r>
            <a:endParaRPr/>
          </a:p>
        </p:txBody>
      </p:sp>
      <p:sp>
        <p:nvSpPr>
          <p:cNvPr id="312" name="Google Shape;312;p22"/>
          <p:cNvSpPr/>
          <p:nvPr/>
        </p:nvSpPr>
        <p:spPr>
          <a:xfrm>
            <a:off x="571500" y="11334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