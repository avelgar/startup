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Merriweather" panose="00000500000000000000" pitchFamily="2" charset="0"/>
      <p:regular r:id="rId11"/>
      <p:bold r:id="rId12"/>
      <p:italic r:id="rId13"/>
      <p:boldItalic r:id="rId14"/>
    </p:embeddedFont>
    <p:embeddedFont>
      <p:font typeface="Roboto" panose="020000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CFDDDBA3-C5F4-43C3-B651-14DBBCDF7A4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C9D326-0DCF-41F5-9821-14E17F61AB07}">
  <a:tblStyle styleId="{BFC9D326-0DCF-41F5-9821-14E17F61AB0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1a0ab2c3a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1a0ab2c3a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1a0ab2c3a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d1a0ab2c3a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1a0ab2c3a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1a0ab2c3a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d1a0ab2c3a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d1a0ab2c3a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1a0ab2c3a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1a0ab2c3a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1a0ab2c3a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d1a0ab2c3a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1a0ab2c3a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d1a0ab2c3a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1578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 «Пятница»</a:t>
            </a:r>
            <a:endParaRPr dirty="0"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"/>
          </p:nvPr>
        </p:nvSpPr>
        <p:spPr>
          <a:xfrm>
            <a:off x="311700" y="1508497"/>
            <a:ext cx="4242600" cy="27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</a:rPr>
              <a:t>Неделя 5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</a:rPr>
              <a:t>Команда 8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</a:rPr>
              <a:t>Цыганов Кирилл Андреевич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</a:rPr>
              <a:t>Солодкин Максим Дмитриевич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</a:rPr>
              <a:t>Валиев Артур Амирович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</a:rPr>
              <a:t>Лемешев Владислав Сергеевич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rgbClr val="000000"/>
                </a:solidFill>
              </a:rPr>
              <a:t>Пушкин Владимир Александрович</a:t>
            </a:r>
            <a:endParaRPr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11700" y="226932"/>
            <a:ext cx="8520600" cy="8476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Цель MVP и проверяемая гипотеза</a:t>
            </a:r>
          </a:p>
        </p:txBody>
      </p:sp>
      <p:sp>
        <p:nvSpPr>
          <p:cNvPr id="71" name="Google Shape;71;p14"/>
          <p:cNvSpPr txBox="1"/>
          <p:nvPr/>
        </p:nvSpPr>
        <p:spPr>
          <a:xfrm>
            <a:off x="311700" y="2333201"/>
            <a:ext cx="8520600" cy="1477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latin typeface="Roboto"/>
                <a:ea typeface="Roboto"/>
                <a:cs typeface="Roboto"/>
                <a:sym typeface="Roboto"/>
              </a:rPr>
              <a:t>Цель MVP: 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Разработать базовую клиент-серверную инфраструктуру с интеграцией LLM для проверки жизнеспособности концепции "Голосовое управление мульти-ПК". 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latin typeface="Roboto"/>
                <a:ea typeface="Roboto"/>
                <a:cs typeface="Roboto"/>
                <a:sym typeface="Roboto"/>
              </a:rPr>
              <a:t>Ключевая гипотеза MVP: 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Проверить, что связка "Клиент -&gt; Наш Сервер -&gt; </a:t>
            </a:r>
            <a:r>
              <a:rPr lang="ru-RU" dirty="0" err="1">
                <a:latin typeface="Roboto"/>
                <a:ea typeface="Roboto"/>
                <a:cs typeface="Roboto"/>
                <a:sym typeface="Roboto"/>
              </a:rPr>
              <a:t>Gemini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 API -&gt; </a:t>
            </a:r>
            <a:r>
              <a:rPr lang="ru-RU" dirty="0" err="1">
                <a:latin typeface="Roboto"/>
                <a:ea typeface="Roboto"/>
                <a:cs typeface="Roboto"/>
                <a:sym typeface="Roboto"/>
              </a:rPr>
              <a:t>WebSocket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 -&gt; Удаленный Клиент" работает достаточно быстро (до 3-4 секунд) и корректно распознает намерения пользователя для 3-5 базовых системных команд.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>
            <a:spLocks noGrp="1"/>
          </p:cNvSpPr>
          <p:nvPr>
            <p:ph type="title"/>
          </p:nvPr>
        </p:nvSpPr>
        <p:spPr>
          <a:xfrm>
            <a:off x="311725" y="166862"/>
            <a:ext cx="8520600" cy="9410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Основной пользовательский сценарий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3DD6DA-7B21-43C9-8533-7DA5FE74AC0A}"/>
              </a:ext>
            </a:extLst>
          </p:cNvPr>
          <p:cNvSpPr txBox="1"/>
          <p:nvPr/>
        </p:nvSpPr>
        <p:spPr>
          <a:xfrm>
            <a:off x="0" y="1259951"/>
            <a:ext cx="91439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Триггер: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Пользователь говорит в микрофон ноута: «Пятница, закрой Хром на домашнем компьютере».</a:t>
            </a:r>
          </a:p>
          <a:p>
            <a:pPr algn="l">
              <a:buFont typeface="+mj-lt"/>
              <a:buAutoNum type="arabicPeriod"/>
            </a:pPr>
            <a:endParaRPr lang="ru-RU" b="0" i="0" dirty="0">
              <a:solidFill>
                <a:srgbClr val="2B2D3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Вход (Client):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Локальный агент переводит голос в текст (STT) и отправляет запрос на наш бэкенд.</a:t>
            </a:r>
          </a:p>
          <a:p>
            <a:pPr algn="l">
              <a:buFont typeface="+mj-lt"/>
              <a:buAutoNum type="arabicPeriod"/>
            </a:pPr>
            <a:endParaRPr lang="ru-RU" b="0" i="0" dirty="0">
              <a:solidFill>
                <a:srgbClr val="2B2D3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Обработка (Server + LLM):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Наш сервер пересылает текст в 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Gemini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API вместе с системным 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промптом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(список доступных ПК пользователя).</a:t>
            </a:r>
          </a:p>
          <a:p>
            <a:pPr algn="l">
              <a:buFont typeface="+mj-lt"/>
              <a:buAutoNum type="arabicPeriod"/>
            </a:pPr>
            <a:endParaRPr lang="ru-RU" b="0" i="0" dirty="0">
              <a:solidFill>
                <a:srgbClr val="2B2D3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Маршрутизация (</a:t>
            </a:r>
            <a:r>
              <a:rPr lang="ru-RU" b="1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Gemini</a:t>
            </a: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):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Gemini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возвращает JSON: {"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target_device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": "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home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_</a:t>
            </a:r>
            <a:r>
              <a:rPr lang="en-US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computer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", "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action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": "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kill_process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", "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args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": "chrome.exe"}.</a:t>
            </a:r>
          </a:p>
          <a:p>
            <a:pPr algn="l">
              <a:buFont typeface="+mj-lt"/>
              <a:buAutoNum type="arabicPeriod"/>
            </a:pPr>
            <a:endParaRPr lang="ru-RU" b="0" i="0" dirty="0">
              <a:solidFill>
                <a:srgbClr val="2B2D3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Доставка (</a:t>
            </a:r>
            <a:r>
              <a:rPr lang="ru-RU" b="1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WebSocket</a:t>
            </a: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):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Сервер находит активное 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WebSocket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-соединение устройства "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home</a:t>
            </a:r>
            <a:r>
              <a:rPr lang="en-US" dirty="0">
                <a:solidFill>
                  <a:srgbClr val="2B2D3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_</a:t>
            </a:r>
            <a:r>
              <a:rPr lang="en-US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computer 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 и пушит туда JSON.</a:t>
            </a:r>
          </a:p>
          <a:p>
            <a:pPr algn="l">
              <a:buFont typeface="+mj-lt"/>
              <a:buAutoNum type="arabicPeriod"/>
            </a:pPr>
            <a:endParaRPr lang="ru-RU" b="0" i="0" dirty="0">
              <a:solidFill>
                <a:srgbClr val="2B2D3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Выполнение: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Агент на "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home_server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 исполняет команду через Windows API и шлет статус "</a:t>
            </a:r>
            <a:r>
              <a:rPr lang="ru-RU" b="0" i="0" dirty="0" err="1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Success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" обратно на сервер.</a:t>
            </a:r>
          </a:p>
          <a:p>
            <a:pPr algn="l">
              <a:buFont typeface="+mj-lt"/>
              <a:buAutoNum type="arabicPeriod"/>
            </a:pPr>
            <a:endParaRPr lang="ru-RU" b="0" i="0" dirty="0">
              <a:solidFill>
                <a:srgbClr val="2B2D3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Результат: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Сервер уведомляет ноут, ноут озвучивает (TTS): "Готово, браузер на </a:t>
            </a:r>
            <a:r>
              <a:rPr lang="ru-RU" dirty="0">
                <a:solidFill>
                  <a:srgbClr val="2B2D3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домашнем компьютере</a:t>
            </a:r>
            <a:r>
              <a:rPr lang="ru-RU" b="0" i="0" dirty="0">
                <a:solidFill>
                  <a:srgbClr val="2B2D3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закрыт".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311725" y="200234"/>
            <a:ext cx="8520600" cy="954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Карта функций</a:t>
            </a:r>
            <a:endParaRPr dirty="0"/>
          </a:p>
        </p:txBody>
      </p:sp>
      <p:sp>
        <p:nvSpPr>
          <p:cNvPr id="83" name="Google Shape;83;p16"/>
          <p:cNvSpPr txBox="1"/>
          <p:nvPr/>
        </p:nvSpPr>
        <p:spPr>
          <a:xfrm>
            <a:off x="311725" y="1739175"/>
            <a:ext cx="8520600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/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Core (Ядро):</a:t>
            </a:r>
            <a:endParaRPr lang="ru-RU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Бэкенд-сервер на Python для управления </a:t>
            </a:r>
            <a:r>
              <a:rPr lang="ru-RU" b="0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WebSocket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-соединениями.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Интеграция с API </a:t>
            </a:r>
            <a:r>
              <a:rPr lang="ru-RU" b="0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Gemini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</a:t>
            </a:r>
            <a:r>
              <a:rPr lang="ru-RU" b="0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промпт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-инжиниринг для возврата строгих JSON форматов).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Десктопный клиент (</a:t>
            </a:r>
            <a:r>
              <a:rPr lang="en-US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C#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с поддержкой микрофона и STT (перевод голоса в текст</a:t>
            </a:r>
            <a:r>
              <a:rPr lang="en-US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VOSK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).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Модуль исполнения команд (Windows API) на стороне агента-получателя.</a:t>
            </a:r>
          </a:p>
          <a:p>
            <a:pPr algn="l"/>
            <a:endParaRPr lang="ru-RU" b="0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(Поддержка):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Базовая регистрация (связка устройств одним аккаунтом/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 паролю и имени устройства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). </a:t>
            </a:r>
          </a:p>
          <a:p>
            <a:pPr algn="l"/>
            <a:endParaRPr lang="ru-RU" b="0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ru-RU" b="1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Later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(Позже):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Сложные составные команды (напиши код и запусти там), мобильное приложение.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title"/>
          </p:nvPr>
        </p:nvSpPr>
        <p:spPr>
          <a:xfrm>
            <a:off x="311725" y="146838"/>
            <a:ext cx="8520600" cy="112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План этапов разработки </a:t>
            </a:r>
            <a:r>
              <a:rPr lang="en-US" dirty="0"/>
              <a:t>MVP</a:t>
            </a:r>
            <a:endParaRPr lang="ru-RU" dirty="0"/>
          </a:p>
        </p:txBody>
      </p:sp>
      <p:sp>
        <p:nvSpPr>
          <p:cNvPr id="89" name="Google Shape;89;p17"/>
          <p:cNvSpPr txBox="1"/>
          <p:nvPr/>
        </p:nvSpPr>
        <p:spPr>
          <a:xfrm>
            <a:off x="311725" y="1538942"/>
            <a:ext cx="8520600" cy="3200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Подготовка бэкенда: Поднятие сервера, реализация комнат/каналов </a:t>
            </a:r>
            <a:r>
              <a:rPr lang="ru-RU" dirty="0" err="1">
                <a:latin typeface="Roboto"/>
                <a:ea typeface="Roboto"/>
                <a:cs typeface="Roboto"/>
                <a:sym typeface="Roboto"/>
              </a:rPr>
              <a:t>WebSocket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 для связи устройств одного пользователя. (Артефакт: Рабочий сервер).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Интеграция ИИ: Написание и отладка системного </a:t>
            </a:r>
            <a:r>
              <a:rPr lang="ru-RU" dirty="0" err="1">
                <a:latin typeface="Roboto"/>
                <a:ea typeface="Roboto"/>
                <a:cs typeface="Roboto"/>
                <a:sym typeface="Roboto"/>
              </a:rPr>
              <a:t>промпта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 для </a:t>
            </a:r>
            <a:r>
              <a:rPr lang="ru-RU" dirty="0" err="1">
                <a:latin typeface="Roboto"/>
                <a:ea typeface="Roboto"/>
                <a:cs typeface="Roboto"/>
                <a:sym typeface="Roboto"/>
              </a:rPr>
              <a:t>Gemini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, чтобы LLM стабильно выдавала JSON нужной структуры, а не текст. (Артефакт: Модуль </a:t>
            </a:r>
            <a:r>
              <a:rPr lang="ru-RU" dirty="0" err="1">
                <a:latin typeface="Roboto"/>
                <a:ea typeface="Roboto"/>
                <a:cs typeface="Roboto"/>
                <a:sym typeface="Roboto"/>
              </a:rPr>
              <a:t>парсинга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 намерений).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Разработка Windows-агента: Приложение, которое умеет слушать микрофон, держать сокет открытым и дергать системные процессы. (Артефакт: </a:t>
            </a:r>
            <a:r>
              <a:rPr lang="ru-RU" dirty="0" err="1">
                <a:latin typeface="Roboto"/>
                <a:ea typeface="Roboto"/>
                <a:cs typeface="Roboto"/>
                <a:sym typeface="Roboto"/>
              </a:rPr>
              <a:t>exe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-файл клиента).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E2E Тестирование: Проверка полного цикла (голос -&gt; сервер -&gt; LLM -&gt; сокет -&gt; выполнение) на двух разных интернет-провайдерах.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lang="ru-RU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Сборка демо: Запись </a:t>
            </a:r>
            <a:r>
              <a:rPr lang="ru-RU" dirty="0" err="1">
                <a:latin typeface="Roboto"/>
                <a:ea typeface="Roboto"/>
                <a:cs typeface="Roboto"/>
                <a:sym typeface="Roboto"/>
              </a:rPr>
              <a:t>видеопруфа</a:t>
            </a:r>
            <a:r>
              <a:rPr lang="ru-RU" dirty="0">
                <a:latin typeface="Roboto"/>
                <a:ea typeface="Roboto"/>
                <a:cs typeface="Roboto"/>
                <a:sym typeface="Roboto"/>
              </a:rPr>
              <a:t> работы системы для презентации инвесторам/пользователям.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>
            <a:spLocks noGrp="1"/>
          </p:cNvSpPr>
          <p:nvPr>
            <p:ph type="title"/>
          </p:nvPr>
        </p:nvSpPr>
        <p:spPr>
          <a:xfrm>
            <a:off x="311700" y="166861"/>
            <a:ext cx="8520600" cy="8476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Техническое задание (ТЗ на MVP)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95DC6D-E779-4C36-9D6A-BBE5F656A7E6}"/>
              </a:ext>
            </a:extLst>
          </p:cNvPr>
          <p:cNvSpPr txBox="1"/>
          <p:nvPr/>
        </p:nvSpPr>
        <p:spPr>
          <a:xfrm>
            <a:off x="429490" y="1972632"/>
            <a:ext cx="82850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 Story:</a:t>
            </a:r>
            <a:r>
              <a:rPr lang="ru-RU" b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"Как владелец двух компьютеров, я хочу произнести команду на одном ПК, чтобы она автоматически выполнилась на другом через интернет, без сложных настроек сетей.“</a:t>
            </a:r>
            <a:endParaRPr lang="en-US" b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endParaRPr lang="ru-RU" b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ru-RU" b="1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Нефункциональные требования:</a:t>
            </a:r>
            <a:endParaRPr lang="ru-RU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Производительность: Весь цикл (от конца фразы до начала выполнения) не должен превышать 3-4 секунды (учитывая задержку API </a:t>
            </a:r>
            <a:r>
              <a:rPr lang="ru-RU" b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Gemini</a:t>
            </a:r>
            <a:r>
              <a:rPr lang="ru-RU" b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Надежность сети: Агенты должны иметь механизм </a:t>
            </a:r>
            <a:r>
              <a:rPr lang="ru-RU" b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auto-reconnect</a:t>
            </a:r>
            <a:r>
              <a:rPr lang="ru-RU" b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при обрыве </a:t>
            </a:r>
            <a:r>
              <a:rPr lang="ru-RU" b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WebSocket</a:t>
            </a:r>
            <a:r>
              <a:rPr lang="ru-RU" b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соединения.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Безопасность: Команды между сервером и клиентом передаются по WSS (TLS шифрование).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Допущения: В MVP голос переводится в текст (STT) на стороне клиента (или через дешевое API), чтобы не гонять тяжелые аудиофайлы на наш сервер.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311700" y="162506"/>
            <a:ext cx="8520600" cy="112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Оптимизация затрат</a:t>
            </a:r>
            <a:endParaRPr dirty="0"/>
          </a:p>
        </p:txBody>
      </p:sp>
      <p:sp>
        <p:nvSpPr>
          <p:cNvPr id="101" name="Google Shape;101;p19"/>
          <p:cNvSpPr txBox="1"/>
          <p:nvPr/>
        </p:nvSpPr>
        <p:spPr>
          <a:xfrm>
            <a:off x="311725" y="2079572"/>
            <a:ext cx="8520600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Оплата токенов LLM (</a:t>
            </a:r>
            <a:r>
              <a:rPr lang="ru-RU" b="1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Gemini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):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Запросы на каждое действие. -&gt; 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Решение: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Использовать кэширование на нашем сервере (если команда идентична прошлой, не дергать ИИ) + использовать быстрые/дешевые модели (</a:t>
            </a:r>
            <a:r>
              <a:rPr lang="ru-RU" b="0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Gemini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Flash вместо Pro).</a:t>
            </a:r>
            <a:endParaRPr lang="en-US" b="0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endParaRPr lang="ru-RU" b="0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Нагрузка на наш сервер (Аудио):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Передача и обработка голоса. -&gt; 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Решение: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Делать </a:t>
            </a:r>
            <a:r>
              <a:rPr lang="ru-RU" b="0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Speech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lang="ru-RU" b="0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-Text (STT) локально на клиенте встроенными средствами Windows или легкими библиотеками, а на наш сервер отправлять уже готовый текст (весит байты).</a:t>
            </a:r>
            <a:endParaRPr lang="en-US" b="0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endParaRPr lang="ru-RU" b="0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>
              <a:buFont typeface="+mj-lt"/>
              <a:buAutoNum type="arabicPeriod"/>
            </a:pPr>
            <a:r>
              <a:rPr lang="en-US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Поддержание </a:t>
            </a:r>
            <a:r>
              <a:rPr lang="ru-RU" b="1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WebSockets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-&gt; </a:t>
            </a:r>
            <a:r>
              <a:rPr lang="ru-RU" b="1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Решение: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 Оптимизировать </a:t>
            </a:r>
            <a:r>
              <a:rPr lang="ru-RU" b="0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пинги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</a:t>
            </a:r>
            <a:r>
              <a:rPr lang="ru-RU" b="0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keep-alive</a:t>
            </a:r>
            <a:r>
              <a:rPr lang="ru-RU" b="0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), чтобы не перегружать сервер пустыми пакетами.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311700" y="162506"/>
            <a:ext cx="8520600" cy="112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Риски</a:t>
            </a:r>
          </a:p>
        </p:txBody>
      </p:sp>
      <p:sp>
        <p:nvSpPr>
          <p:cNvPr id="101" name="Google Shape;101;p19"/>
          <p:cNvSpPr txBox="1"/>
          <p:nvPr/>
        </p:nvSpPr>
        <p:spPr>
          <a:xfrm>
            <a:off x="311725" y="2079572"/>
            <a:ext cx="8520600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/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Риск 1</a:t>
            </a:r>
            <a:r>
              <a:rPr lang="en-US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</a:t>
            </a:r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Сетевые задержки + время ответа </a:t>
            </a:r>
            <a:r>
              <a:rPr lang="ru-RU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Gemini</a:t>
            </a:r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могут сделать опыт раздражающим. </a:t>
            </a:r>
          </a:p>
          <a:p>
            <a:pPr algn="l"/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Решение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</a:t>
            </a:r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Жесткая оптимизация </a:t>
            </a:r>
            <a:r>
              <a:rPr lang="ru-RU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промпта</a:t>
            </a:r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(просить ИИ отвечать только JSON, без лишних слов), выбор ближайших дата-центров. </a:t>
            </a:r>
            <a:endParaRPr lang="en-US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endParaRPr lang="en-US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endParaRPr lang="en-US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Риск 2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</a:t>
            </a:r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Галлюцинации LLM. ИИ может неправильно понять команду и удалить не тот файл на сервере. </a:t>
            </a:r>
            <a:endParaRPr lang="en-US" i="0" dirty="0"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Решение</a:t>
            </a:r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в MVP: Жестко ограничить пул доступных действий (</a:t>
            </a:r>
            <a:r>
              <a:rPr lang="ru-RU" i="0" dirty="0" err="1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whitelist</a:t>
            </a:r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команд — только закрытие софта, запуск конкретных макросов</a:t>
            </a:r>
            <a:r>
              <a:rPr lang="ru-RU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текстовые и голосовые ответы</a:t>
            </a:r>
            <a:r>
              <a:rPr lang="ru-RU" i="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). ИИ только выбирает из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854361435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772</Words>
  <Application>Microsoft Office PowerPoint</Application>
  <PresentationFormat>Экран (16:9)</PresentationFormat>
  <Paragraphs>67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Roboto</vt:lpstr>
      <vt:lpstr>Arial</vt:lpstr>
      <vt:lpstr>Merriweather</vt:lpstr>
      <vt:lpstr>Paradigm</vt:lpstr>
      <vt:lpstr>Проект «Пятница»</vt:lpstr>
      <vt:lpstr>Цель MVP и проверяемая гипотеза</vt:lpstr>
      <vt:lpstr>Основной пользовательский сценарий</vt:lpstr>
      <vt:lpstr>Карта функций</vt:lpstr>
      <vt:lpstr>План этапов разработки MVP</vt:lpstr>
      <vt:lpstr>Техническое задание (ТЗ на MVP)</vt:lpstr>
      <vt:lpstr>Оптимизация затрат</vt:lpstr>
      <vt:lpstr>Риски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«Пятница»</dc:title>
  <cp:lastModifiedBy>Цыганов Кирилл</cp:lastModifiedBy>
  <cp:revision>9</cp:revision>
  <dcterms:modified xsi:type="dcterms:W3CDTF">2026-03-24T23:36:55Z</dcterms:modified>
</cp:coreProperties>
</file>